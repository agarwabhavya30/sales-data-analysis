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  <p:sldId id="272" r:id="rId4"/>
    <p:sldId id="273" r:id="rId5"/>
    <p:sldId id="274" r:id="rId6"/>
    <p:sldId id="270" r:id="rId7"/>
    <p:sldId id="266" r:id="rId8"/>
    <p:sldId id="267" r:id="rId9"/>
    <p:sldId id="268" r:id="rId10"/>
    <p:sldId id="269" r:id="rId11"/>
    <p:sldId id="283" r:id="rId12"/>
    <p:sldId id="260" r:id="rId13"/>
    <p:sldId id="277" r:id="rId14"/>
    <p:sldId id="275" r:id="rId15"/>
    <p:sldId id="278" r:id="rId16"/>
    <p:sldId id="263" r:id="rId17"/>
    <p:sldId id="279" r:id="rId18"/>
    <p:sldId id="280" r:id="rId19"/>
    <p:sldId id="281" r:id="rId20"/>
    <p:sldId id="282" r:id="rId21"/>
    <p:sldId id="265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99"/>
    <a:srgbClr val="66FF33"/>
    <a:srgbClr val="FF33CC"/>
    <a:srgbClr val="FF0066"/>
    <a:srgbClr val="8000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D:\zalima%20project\project%201%20sales\BMW%20sales%20project\BMW%20Sales%20trends%20final%20copy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D:\zalima%20project\project%201%20sales\BMW%20sales%20project\BMW%20Sales%20trends%20final%20copy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D:\zalima%20project\project%201%20sales\BMW%20sales%20project\BMW%20Sales%20trends%20final%20copy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D:\zalima%20project\project%201%20sales\BMW%20sales%20project\BMW%20Sales%20trends%20final%20copy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D:\zalima%20project\project%201%20sales\BMW%20sales%20project\BMW%20Sales%20trends%20final%20copy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D:\zalima%20project\project%201%20sales\BMW%20sales%20project\Copy_of_Copy_of_BMW_Sales_Date_Alignment_2(1)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file:///D:\zalima%20project\project%201%20sales\BMW%20sales%20project\Copy_of_Copy_of_BMW_Sales_Date_Alignment_2(1)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[BMW Sales trends final copy.xlsx] Identify best-performing model!PivotTable3</c:name>
    <c:fmtId val="59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2200" b="0" i="0" u="none" strike="noStrike" kern="1200" cap="none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pPr>
            <a:r>
              <a:rPr lang="en-IN"/>
              <a:t>SALES BY REVENUE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200" b="0" i="0" u="none" strike="noStrike" kern="1200" cap="none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+mj-lt"/>
              <a:ea typeface="+mj-ea"/>
              <a:cs typeface="+mj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2"/>
          </a:solidFill>
          <a:ln>
            <a:noFill/>
          </a:ln>
          <a:effectLst/>
          <a:sp3d contourW="9525">
            <a:contourClr>
              <a:schemeClr val="accent1">
                <a:lumMod val="75000"/>
              </a:schemeClr>
            </a:contourClr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dk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2"/>
          </a:solidFill>
          <a:ln>
            <a:noFill/>
          </a:ln>
          <a:effectLst/>
          <a:sp3d contourW="9525">
            <a:contourClr>
              <a:schemeClr val="accent1">
                <a:lumMod val="75000"/>
              </a:schemeClr>
            </a:contourClr>
          </a:sp3d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2"/>
          </a:solidFill>
          <a:ln>
            <a:noFill/>
          </a:ln>
          <a:effectLst/>
          <a:sp3d contourW="9525">
            <a:contourClr>
              <a:schemeClr val="accent1">
                <a:lumMod val="75000"/>
              </a:schemeClr>
            </a:contourClr>
          </a:sp3d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2"/>
          </a:solidFill>
          <a:ln>
            <a:noFill/>
          </a:ln>
          <a:effectLst/>
          <a:sp3d contourW="9525">
            <a:contourClr>
              <a:schemeClr val="accent1">
                <a:lumMod val="75000"/>
              </a:schemeClr>
            </a:contourClr>
          </a:sp3d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2"/>
          </a:solidFill>
          <a:ln>
            <a:noFill/>
          </a:ln>
          <a:effectLst/>
          <a:sp3d contourW="9525">
            <a:contourClr>
              <a:schemeClr val="accent1">
                <a:lumMod val="75000"/>
              </a:schemeClr>
            </a:contourClr>
          </a:sp3d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2"/>
          </a:solidFill>
          <a:ln>
            <a:noFill/>
          </a:ln>
          <a:effectLst/>
          <a:sp3d contourW="9525">
            <a:contourClr>
              <a:schemeClr val="accent1">
                <a:lumMod val="75000"/>
              </a:schemeClr>
            </a:contourClr>
          </a:sp3d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2"/>
          </a:solidFill>
          <a:ln>
            <a:noFill/>
          </a:ln>
          <a:effectLst/>
          <a:sp3d contourW="9525">
            <a:contourClr>
              <a:schemeClr val="accent1">
                <a:lumMod val="75000"/>
              </a:schemeClr>
            </a:contourClr>
          </a:sp3d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2"/>
          </a:solidFill>
          <a:ln>
            <a:noFill/>
          </a:ln>
          <a:effectLst/>
          <a:sp3d contourW="9525">
            <a:contourClr>
              <a:schemeClr val="accent1">
                <a:lumMod val="75000"/>
              </a:schemeClr>
            </a:contourClr>
          </a:sp3d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2"/>
          </a:solidFill>
          <a:ln>
            <a:noFill/>
          </a:ln>
          <a:effectLst/>
          <a:sp3d contourW="9525">
            <a:contourClr>
              <a:schemeClr val="accent1">
                <a:lumMod val="75000"/>
              </a:schemeClr>
            </a:contourClr>
          </a:sp3d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2"/>
          </a:solidFill>
          <a:ln>
            <a:noFill/>
          </a:ln>
          <a:effectLst/>
          <a:sp3d contourW="9525">
            <a:contourClr>
              <a:schemeClr val="accent1">
                <a:lumMod val="75000"/>
              </a:schemeClr>
            </a:contourClr>
          </a:sp3d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2"/>
          </a:solidFill>
          <a:ln>
            <a:noFill/>
          </a:ln>
          <a:effectLst/>
          <a:sp3d contourW="9525">
            <a:contourClr>
              <a:schemeClr val="accent1">
                <a:lumMod val="75000"/>
              </a:schemeClr>
            </a:contourClr>
          </a:sp3d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chemeClr val="accent2"/>
          </a:solidFill>
          <a:ln>
            <a:noFill/>
          </a:ln>
          <a:effectLst/>
          <a:sp3d contourW="9525">
            <a:contourClr>
              <a:schemeClr val="accent1">
                <a:lumMod val="75000"/>
              </a:schemeClr>
            </a:contourClr>
          </a:sp3d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2"/>
        <c:spPr>
          <a:solidFill>
            <a:schemeClr val="accent2"/>
          </a:solidFill>
          <a:ln>
            <a:noFill/>
          </a:ln>
          <a:effectLst/>
          <a:sp3d contourW="9525">
            <a:contourClr>
              <a:schemeClr val="accent1">
                <a:lumMod val="75000"/>
              </a:schemeClr>
            </a:contourClr>
          </a:sp3d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3"/>
        <c:spPr>
          <a:solidFill>
            <a:schemeClr val="accent2"/>
          </a:solidFill>
          <a:ln>
            <a:noFill/>
          </a:ln>
          <a:effectLst/>
          <a:sp3d contourW="9525">
            <a:contourClr>
              <a:schemeClr val="accent1">
                <a:lumMod val="75000"/>
              </a:schemeClr>
            </a:contourClr>
          </a:sp3d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4"/>
        <c:spPr>
          <a:solidFill>
            <a:schemeClr val="accent2"/>
          </a:solidFill>
          <a:ln>
            <a:noFill/>
          </a:ln>
          <a:effectLst/>
          <a:sp3d contourW="9525">
            <a:contourClr>
              <a:schemeClr val="accent1">
                <a:lumMod val="75000"/>
              </a:schemeClr>
            </a:contourClr>
          </a:sp3d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5"/>
        <c:spPr>
          <a:solidFill>
            <a:schemeClr val="accent2"/>
          </a:solidFill>
          <a:ln>
            <a:noFill/>
          </a:ln>
          <a:effectLst/>
          <a:sp3d contourW="9525">
            <a:contourClr>
              <a:schemeClr val="accent1">
                <a:lumMod val="75000"/>
              </a:schemeClr>
            </a:contourClr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dk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6"/>
        <c:spPr>
          <a:solidFill>
            <a:schemeClr val="accent2"/>
          </a:solidFill>
          <a:ln>
            <a:noFill/>
          </a:ln>
          <a:effectLst/>
          <a:sp3d contourW="9525">
            <a:contourClr>
              <a:schemeClr val="accent1">
                <a:lumMod val="75000"/>
              </a:schemeClr>
            </a:contourClr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dk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col"/>
        <c:grouping val="clustered"/>
        <c:varyColors val="0"/>
        <c:ser>
          <c:idx val="0"/>
          <c:order val="0"/>
          <c:tx>
            <c:strRef>
              <c:f>' Identify best-performing model'!$B$3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  <a:sp3d/>
          </c:spPr>
          <c:invertIfNegative val="0"/>
          <c:dPt>
            <c:idx val="0"/>
            <c:invertIfNegative val="0"/>
            <c:bubble3D val="0"/>
            <c:spPr>
              <a:solidFill>
                <a:schemeClr val="accent6">
                  <a:lumMod val="50000"/>
                </a:schemeClr>
              </a:solidFill>
              <a:ln>
                <a:noFill/>
              </a:ln>
              <a:effectLst/>
              <a:sp3d/>
            </c:spPr>
            <c:extLst>
              <c:ext xmlns:c16="http://schemas.microsoft.com/office/drawing/2014/chart" uri="{C3380CC4-5D6E-409C-BE32-E72D297353CC}">
                <c16:uniqueId val="{00000001-2852-4913-8549-FA14AEFD2B48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6">
                  <a:lumMod val="50000"/>
                </a:schemeClr>
              </a:solidFill>
              <a:ln>
                <a:noFill/>
              </a:ln>
              <a:effectLst/>
              <a:sp3d/>
            </c:spPr>
            <c:extLst>
              <c:ext xmlns:c16="http://schemas.microsoft.com/office/drawing/2014/chart" uri="{C3380CC4-5D6E-409C-BE32-E72D297353CC}">
                <c16:uniqueId val="{00000002-2852-4913-8549-FA14AEFD2B48}"/>
              </c:ext>
            </c:extLst>
          </c:dPt>
          <c:dPt>
            <c:idx val="3"/>
            <c:invertIfNegative val="0"/>
            <c:bubble3D val="0"/>
            <c:spPr>
              <a:solidFill>
                <a:srgbClr val="FFC000"/>
              </a:solidFill>
              <a:ln>
                <a:noFill/>
              </a:ln>
              <a:effectLst/>
              <a:sp3d/>
            </c:spPr>
            <c:extLst>
              <c:ext xmlns:c16="http://schemas.microsoft.com/office/drawing/2014/chart" uri="{C3380CC4-5D6E-409C-BE32-E72D297353CC}">
                <c16:uniqueId val="{00000003-2852-4913-8549-FA14AEFD2B48}"/>
              </c:ext>
            </c:extLst>
          </c:dPt>
          <c:dPt>
            <c:idx val="4"/>
            <c:invertIfNegative val="0"/>
            <c:bubble3D val="0"/>
            <c:spPr>
              <a:solidFill>
                <a:srgbClr val="FFC000"/>
              </a:solidFill>
              <a:ln>
                <a:noFill/>
              </a:ln>
              <a:effectLst/>
              <a:sp3d/>
            </c:spPr>
            <c:extLst>
              <c:ext xmlns:c16="http://schemas.microsoft.com/office/drawing/2014/chart" uri="{C3380CC4-5D6E-409C-BE32-E72D297353CC}">
                <c16:uniqueId val="{00000004-2852-4913-8549-FA14AEFD2B48}"/>
              </c:ext>
            </c:extLst>
          </c:dPt>
          <c:cat>
            <c:strRef>
              <c:f>' Identify best-performing model'!$A$4:$A$15</c:f>
              <c:strCache>
                <c:ptCount val="11"/>
                <c:pt idx="0">
                  <c:v>3 Series</c:v>
                </c:pt>
                <c:pt idx="1">
                  <c:v>5 Series</c:v>
                </c:pt>
                <c:pt idx="2">
                  <c:v>7 Series</c:v>
                </c:pt>
                <c:pt idx="3">
                  <c:v>i3</c:v>
                </c:pt>
                <c:pt idx="4">
                  <c:v>i8</c:v>
                </c:pt>
                <c:pt idx="5">
                  <c:v>M3</c:v>
                </c:pt>
                <c:pt idx="6">
                  <c:v>M5</c:v>
                </c:pt>
                <c:pt idx="7">
                  <c:v>X1</c:v>
                </c:pt>
                <c:pt idx="8">
                  <c:v>X3</c:v>
                </c:pt>
                <c:pt idx="9">
                  <c:v>X5</c:v>
                </c:pt>
                <c:pt idx="10">
                  <c:v>X6</c:v>
                </c:pt>
              </c:strCache>
            </c:strRef>
          </c:cat>
          <c:val>
            <c:numRef>
              <c:f>' Identify best-performing model'!$B$4:$B$15</c:f>
              <c:numCache>
                <c:formatCode>General</c:formatCode>
                <c:ptCount val="11"/>
                <c:pt idx="0">
                  <c:v>1768534028214</c:v>
                </c:pt>
                <c:pt idx="1">
                  <c:v>1735712423092</c:v>
                </c:pt>
                <c:pt idx="2">
                  <c:v>1790070249282</c:v>
                </c:pt>
                <c:pt idx="3">
                  <c:v>1724197530210</c:v>
                </c:pt>
                <c:pt idx="4">
                  <c:v>1764743448529</c:v>
                </c:pt>
                <c:pt idx="5">
                  <c:v>1667504386622</c:v>
                </c:pt>
                <c:pt idx="6">
                  <c:v>1698467355916</c:v>
                </c:pt>
                <c:pt idx="7">
                  <c:v>1752985285361</c:v>
                </c:pt>
                <c:pt idx="8">
                  <c:v>1707951188482</c:v>
                </c:pt>
                <c:pt idx="9">
                  <c:v>1708653383772</c:v>
                </c:pt>
                <c:pt idx="10">
                  <c:v>1693423254979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852-4913-8549-FA14AEFD2B4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1691871775"/>
        <c:axId val="1691878975"/>
        <c:axId val="0"/>
      </c:bar3DChart>
      <c:catAx>
        <c:axId val="169187177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1" i="0" u="none" strike="noStrike" kern="1200" cap="none" spc="0" normalizeH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91878975"/>
        <c:crosses val="autoZero"/>
        <c:auto val="1"/>
        <c:lblAlgn val="ctr"/>
        <c:lblOffset val="100"/>
        <c:noMultiLvlLbl val="0"/>
      </c:catAx>
      <c:valAx>
        <c:axId val="169187897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inorGridlines>
          <c:spPr>
            <a:ln w="9525" cap="flat" cmpd="sng" algn="ctr">
              <a:solidFill>
                <a:schemeClr val="tx1">
                  <a:lumMod val="5000"/>
                  <a:lumOff val="95000"/>
                </a:schemeClr>
              </a:solidFill>
              <a:round/>
            </a:ln>
            <a:effectLst/>
          </c:spPr>
        </c:min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9187177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[BMW Sales trends final copy.xlsx]See growth or decline in yearly!PivotTable7</c:name>
    <c:fmtId val="28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pPr>
            <a:r>
              <a:rPr lang="en-US" dirty="0"/>
              <a:t>Yearly Growth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gradFill rotWithShape="1">
            <a:gsLst>
              <a:gs pos="0">
                <a:schemeClr val="accent1">
                  <a:tint val="94000"/>
                  <a:satMod val="100000"/>
                  <a:lumMod val="108000"/>
                </a:schemeClr>
              </a:gs>
              <a:gs pos="50000">
                <a:schemeClr val="accent1">
                  <a:tint val="98000"/>
                  <a:shade val="100000"/>
                  <a:satMod val="100000"/>
                  <a:lumMod val="100000"/>
                </a:schemeClr>
              </a:gs>
              <a:gs pos="100000">
                <a:schemeClr val="accent1">
                  <a:shade val="72000"/>
                  <a:satMod val="120000"/>
                  <a:lumMod val="100000"/>
                </a:schemeClr>
              </a:gs>
            </a:gsLst>
            <a:lin ang="5400000" scaled="0"/>
          </a:gradFill>
          <a:ln w="28575" cap="rnd">
            <a:solidFill>
              <a:schemeClr val="accent1"/>
            </a:solidFill>
            <a:round/>
          </a:ln>
          <a:effectLst/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lineChart>
        <c:grouping val="standard"/>
        <c:varyColors val="0"/>
        <c:ser>
          <c:idx val="0"/>
          <c:order val="0"/>
          <c:tx>
            <c:strRef>
              <c:f>'See growth or decline in yearly'!$B$3</c:f>
              <c:strCache>
                <c:ptCount val="1"/>
                <c:pt idx="0">
                  <c:v>Total</c:v>
                </c:pt>
              </c:strCache>
            </c:strRef>
          </c:tx>
          <c:spPr>
            <a:ln w="34925" cap="rnd">
              <a:solidFill>
                <a:schemeClr val="accent1"/>
              </a:solidFill>
              <a:round/>
            </a:ln>
            <a:effectLst>
              <a:outerShdw blurRad="63500" dist="25400" dir="5400000" algn="ctr" rotWithShape="0">
                <a:srgbClr val="000000">
                  <a:alpha val="69000"/>
                </a:srgbClr>
              </a:outerShdw>
            </a:effectLst>
          </c:spPr>
          <c:marker>
            <c:symbol val="none"/>
          </c:marker>
          <c:dLbls>
            <c:delete val="1"/>
          </c:dLbls>
          <c:cat>
            <c:strRef>
              <c:f>'See growth or decline in yearly'!$A$4:$A$19</c:f>
              <c:strCache>
                <c:ptCount val="15"/>
                <c:pt idx="0">
                  <c:v>2010</c:v>
                </c:pt>
                <c:pt idx="1">
                  <c:v>2011</c:v>
                </c:pt>
                <c:pt idx="2">
                  <c:v>2012</c:v>
                </c:pt>
                <c:pt idx="3">
                  <c:v>2013</c:v>
                </c:pt>
                <c:pt idx="4">
                  <c:v>2014</c:v>
                </c:pt>
                <c:pt idx="5">
                  <c:v>2015</c:v>
                </c:pt>
                <c:pt idx="6">
                  <c:v>2016</c:v>
                </c:pt>
                <c:pt idx="7">
                  <c:v>2017</c:v>
                </c:pt>
                <c:pt idx="8">
                  <c:v>2018</c:v>
                </c:pt>
                <c:pt idx="9">
                  <c:v>2019</c:v>
                </c:pt>
                <c:pt idx="10">
                  <c:v>2020</c:v>
                </c:pt>
                <c:pt idx="11">
                  <c:v>2021</c:v>
                </c:pt>
                <c:pt idx="12">
                  <c:v>2022</c:v>
                </c:pt>
                <c:pt idx="13">
                  <c:v>2023</c:v>
                </c:pt>
                <c:pt idx="14">
                  <c:v>2024</c:v>
                </c:pt>
              </c:strCache>
            </c:strRef>
          </c:cat>
          <c:val>
            <c:numRef>
              <c:f>'See growth or decline in yearly'!$B$4:$B$19</c:f>
              <c:numCache>
                <c:formatCode>General</c:formatCode>
                <c:ptCount val="15"/>
                <c:pt idx="0">
                  <c:v>16933445</c:v>
                </c:pt>
                <c:pt idx="1">
                  <c:v>16758941</c:v>
                </c:pt>
                <c:pt idx="2">
                  <c:v>16751895</c:v>
                </c:pt>
                <c:pt idx="3">
                  <c:v>16866733</c:v>
                </c:pt>
                <c:pt idx="4">
                  <c:v>16958960</c:v>
                </c:pt>
                <c:pt idx="5">
                  <c:v>17010207</c:v>
                </c:pt>
                <c:pt idx="6">
                  <c:v>16957550</c:v>
                </c:pt>
                <c:pt idx="7">
                  <c:v>16620811</c:v>
                </c:pt>
                <c:pt idx="8">
                  <c:v>16412273</c:v>
                </c:pt>
                <c:pt idx="9">
                  <c:v>17191956</c:v>
                </c:pt>
                <c:pt idx="10">
                  <c:v>16310843</c:v>
                </c:pt>
                <c:pt idx="11">
                  <c:v>16884666</c:v>
                </c:pt>
                <c:pt idx="12">
                  <c:v>17920946</c:v>
                </c:pt>
                <c:pt idx="13">
                  <c:v>16268654</c:v>
                </c:pt>
                <c:pt idx="14">
                  <c:v>17527854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BF3-4008-A953-F8BEC5EB6F0D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smooth val="0"/>
        <c:axId val="1691886655"/>
        <c:axId val="1691890495"/>
      </c:lineChart>
      <c:catAx>
        <c:axId val="169188665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lt1">
                <a:lumMod val="95000"/>
                <a:alpha val="10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91890495"/>
        <c:crosses val="autoZero"/>
        <c:auto val="1"/>
        <c:lblAlgn val="ctr"/>
        <c:lblOffset val="100"/>
        <c:noMultiLvlLbl val="0"/>
      </c:catAx>
      <c:valAx>
        <c:axId val="169189049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5000"/>
                  <a:alpha val="1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9188665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[BMW Sales trends final copy.xlsx] Identify best-performing model!PivotTable3</c:name>
    <c:fmtId val="56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2200" b="0" i="0" u="none" strike="noStrike" kern="1200" cap="none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pPr>
            <a:r>
              <a:rPr lang="en-IN"/>
              <a:t>SALES BY REVENUE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200" b="0" i="0" u="none" strike="noStrike" kern="1200" cap="none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+mj-lt"/>
              <a:ea typeface="+mj-ea"/>
              <a:cs typeface="+mj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2"/>
          </a:solidFill>
          <a:ln>
            <a:noFill/>
          </a:ln>
          <a:effectLst/>
          <a:sp3d contourW="9525">
            <a:contourClr>
              <a:schemeClr val="accent1">
                <a:lumMod val="75000"/>
              </a:schemeClr>
            </a:contourClr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dk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2"/>
          </a:solidFill>
          <a:ln>
            <a:noFill/>
          </a:ln>
          <a:effectLst/>
          <a:sp3d contourW="9525">
            <a:contourClr>
              <a:schemeClr val="accent1">
                <a:lumMod val="75000"/>
              </a:schemeClr>
            </a:contourClr>
          </a:sp3d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2"/>
          </a:solidFill>
          <a:ln>
            <a:noFill/>
          </a:ln>
          <a:effectLst/>
          <a:sp3d contourW="9525">
            <a:contourClr>
              <a:schemeClr val="accent1">
                <a:lumMod val="75000"/>
              </a:schemeClr>
            </a:contourClr>
          </a:sp3d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2"/>
          </a:solidFill>
          <a:ln>
            <a:noFill/>
          </a:ln>
          <a:effectLst/>
          <a:sp3d contourW="9525">
            <a:contourClr>
              <a:schemeClr val="accent1">
                <a:lumMod val="75000"/>
              </a:schemeClr>
            </a:contourClr>
          </a:sp3d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2"/>
          </a:solidFill>
          <a:ln>
            <a:noFill/>
          </a:ln>
          <a:effectLst/>
          <a:sp3d contourW="9525">
            <a:contourClr>
              <a:schemeClr val="accent1">
                <a:lumMod val="75000"/>
              </a:schemeClr>
            </a:contourClr>
          </a:sp3d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2"/>
          </a:solidFill>
          <a:ln>
            <a:noFill/>
          </a:ln>
          <a:effectLst/>
          <a:sp3d contourW="9525">
            <a:contourClr>
              <a:schemeClr val="accent1">
                <a:lumMod val="75000"/>
              </a:schemeClr>
            </a:contourClr>
          </a:sp3d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2"/>
          </a:solidFill>
          <a:ln>
            <a:noFill/>
          </a:ln>
          <a:effectLst/>
          <a:sp3d contourW="9525">
            <a:contourClr>
              <a:schemeClr val="accent1">
                <a:lumMod val="75000"/>
              </a:schemeClr>
            </a:contourClr>
          </a:sp3d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2"/>
          </a:solidFill>
          <a:ln>
            <a:noFill/>
          </a:ln>
          <a:effectLst/>
          <a:sp3d contourW="9525">
            <a:contourClr>
              <a:schemeClr val="accent1">
                <a:lumMod val="75000"/>
              </a:schemeClr>
            </a:contourClr>
          </a:sp3d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2"/>
          </a:solidFill>
          <a:ln>
            <a:noFill/>
          </a:ln>
          <a:effectLst/>
          <a:sp3d contourW="9525">
            <a:contourClr>
              <a:schemeClr val="accent1">
                <a:lumMod val="75000"/>
              </a:schemeClr>
            </a:contourClr>
          </a:sp3d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2"/>
          </a:solidFill>
          <a:ln>
            <a:noFill/>
          </a:ln>
          <a:effectLst/>
          <a:sp3d contourW="9525">
            <a:contourClr>
              <a:schemeClr val="accent1">
                <a:lumMod val="75000"/>
              </a:schemeClr>
            </a:contourClr>
          </a:sp3d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2"/>
          </a:solidFill>
          <a:ln>
            <a:noFill/>
          </a:ln>
          <a:effectLst/>
          <a:sp3d contourW="9525">
            <a:contourClr>
              <a:schemeClr val="accent1">
                <a:lumMod val="75000"/>
              </a:schemeClr>
            </a:contourClr>
          </a:sp3d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chemeClr val="accent2"/>
          </a:solidFill>
          <a:ln>
            <a:noFill/>
          </a:ln>
          <a:effectLst/>
          <a:sp3d contourW="9525">
            <a:contourClr>
              <a:schemeClr val="accent1">
                <a:lumMod val="75000"/>
              </a:schemeClr>
            </a:contourClr>
          </a:sp3d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2"/>
        <c:spPr>
          <a:solidFill>
            <a:schemeClr val="accent2"/>
          </a:solidFill>
          <a:ln>
            <a:noFill/>
          </a:ln>
          <a:effectLst/>
          <a:sp3d contourW="9525">
            <a:contourClr>
              <a:schemeClr val="accent1">
                <a:lumMod val="75000"/>
              </a:schemeClr>
            </a:contourClr>
          </a:sp3d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3"/>
        <c:spPr>
          <a:solidFill>
            <a:schemeClr val="accent2"/>
          </a:solidFill>
          <a:ln>
            <a:noFill/>
          </a:ln>
          <a:effectLst/>
          <a:sp3d contourW="9525">
            <a:contourClr>
              <a:schemeClr val="accent1">
                <a:lumMod val="75000"/>
              </a:schemeClr>
            </a:contourClr>
          </a:sp3d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4"/>
        <c:spPr>
          <a:solidFill>
            <a:schemeClr val="accent2"/>
          </a:solidFill>
          <a:ln>
            <a:noFill/>
          </a:ln>
          <a:effectLst/>
          <a:sp3d contourW="9525">
            <a:contourClr>
              <a:schemeClr val="accent1">
                <a:lumMod val="75000"/>
              </a:schemeClr>
            </a:contourClr>
          </a:sp3d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5"/>
        <c:spPr>
          <a:solidFill>
            <a:schemeClr val="accent2"/>
          </a:solidFill>
          <a:ln>
            <a:noFill/>
          </a:ln>
          <a:effectLst/>
          <a:sp3d contourW="9525">
            <a:contourClr>
              <a:schemeClr val="accent1">
                <a:lumMod val="75000"/>
              </a:schemeClr>
            </a:contourClr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dk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6"/>
        <c:spPr>
          <a:solidFill>
            <a:schemeClr val="accent2"/>
          </a:solidFill>
          <a:ln>
            <a:noFill/>
          </a:ln>
          <a:effectLst/>
          <a:sp3d contourW="9525">
            <a:contourClr>
              <a:schemeClr val="accent1">
                <a:lumMod val="75000"/>
              </a:schemeClr>
            </a:contourClr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dk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col"/>
        <c:grouping val="clustered"/>
        <c:varyColors val="0"/>
        <c:ser>
          <c:idx val="0"/>
          <c:order val="0"/>
          <c:tx>
            <c:strRef>
              <c:f>' Identify best-performing model'!$B$3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FF33CC"/>
            </a:solidFill>
            <a:ln>
              <a:noFill/>
            </a:ln>
            <a:effectLst/>
            <a:sp3d/>
          </c:spPr>
          <c:invertIfNegative val="0"/>
          <c:dPt>
            <c:idx val="2"/>
            <c:invertIfNegative val="0"/>
            <c:bubble3D val="0"/>
            <c:spPr>
              <a:solidFill>
                <a:srgbClr val="66FF33"/>
              </a:solidFill>
              <a:ln>
                <a:noFill/>
              </a:ln>
              <a:effectLst/>
              <a:sp3d/>
            </c:spPr>
            <c:extLst>
              <c:ext xmlns:c16="http://schemas.microsoft.com/office/drawing/2014/chart" uri="{C3380CC4-5D6E-409C-BE32-E72D297353CC}">
                <c16:uniqueId val="{00000000-CD33-4D9C-8255-FB0A5CFDFD2C}"/>
              </c:ext>
            </c:extLst>
          </c:dPt>
          <c:cat>
            <c:strRef>
              <c:f>' Identify best-performing model'!$A$4:$A$15</c:f>
              <c:strCache>
                <c:ptCount val="11"/>
                <c:pt idx="0">
                  <c:v>3 Series</c:v>
                </c:pt>
                <c:pt idx="1">
                  <c:v>5 Series</c:v>
                </c:pt>
                <c:pt idx="2">
                  <c:v>7 Series</c:v>
                </c:pt>
                <c:pt idx="3">
                  <c:v>i3</c:v>
                </c:pt>
                <c:pt idx="4">
                  <c:v>i8</c:v>
                </c:pt>
                <c:pt idx="5">
                  <c:v>M3</c:v>
                </c:pt>
                <c:pt idx="6">
                  <c:v>M5</c:v>
                </c:pt>
                <c:pt idx="7">
                  <c:v>X1</c:v>
                </c:pt>
                <c:pt idx="8">
                  <c:v>X3</c:v>
                </c:pt>
                <c:pt idx="9">
                  <c:v>X5</c:v>
                </c:pt>
                <c:pt idx="10">
                  <c:v>X6</c:v>
                </c:pt>
              </c:strCache>
            </c:strRef>
          </c:cat>
          <c:val>
            <c:numRef>
              <c:f>' Identify best-performing model'!$B$4:$B$15</c:f>
              <c:numCache>
                <c:formatCode>General</c:formatCode>
                <c:ptCount val="11"/>
                <c:pt idx="0">
                  <c:v>1768534028214</c:v>
                </c:pt>
                <c:pt idx="1">
                  <c:v>1735712423092</c:v>
                </c:pt>
                <c:pt idx="2">
                  <c:v>1790070249282</c:v>
                </c:pt>
                <c:pt idx="3">
                  <c:v>1724197530210</c:v>
                </c:pt>
                <c:pt idx="4">
                  <c:v>1764743448529</c:v>
                </c:pt>
                <c:pt idx="5">
                  <c:v>1667504386622</c:v>
                </c:pt>
                <c:pt idx="6">
                  <c:v>1698467355916</c:v>
                </c:pt>
                <c:pt idx="7">
                  <c:v>1752985285361</c:v>
                </c:pt>
                <c:pt idx="8">
                  <c:v>1707951188482</c:v>
                </c:pt>
                <c:pt idx="9">
                  <c:v>1708653383772</c:v>
                </c:pt>
                <c:pt idx="10">
                  <c:v>1693423254979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2D-48F6-BE2A-4CADD639C19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1691871775"/>
        <c:axId val="1691878975"/>
        <c:axId val="0"/>
      </c:bar3DChart>
      <c:catAx>
        <c:axId val="169187177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1" i="0" u="none" strike="noStrike" kern="1200" cap="none" spc="0" normalizeH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91878975"/>
        <c:crosses val="autoZero"/>
        <c:auto val="1"/>
        <c:lblAlgn val="ctr"/>
        <c:lblOffset val="100"/>
        <c:noMultiLvlLbl val="0"/>
      </c:catAx>
      <c:valAx>
        <c:axId val="169187897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inorGridlines>
          <c:spPr>
            <a:ln w="9525" cap="flat" cmpd="sng" algn="ctr">
              <a:solidFill>
                <a:schemeClr val="tx1">
                  <a:lumMod val="5000"/>
                  <a:lumOff val="95000"/>
                </a:schemeClr>
              </a:solidFill>
              <a:round/>
            </a:ln>
            <a:effectLst/>
          </c:spPr>
        </c:min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9187177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[BMW Sales trends final copy.xlsx]Identify peak and low sales sea!PivotTable25</c:name>
    <c:fmtId val="39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/>
              <a:t>Monthly Sales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>
              <a:alpha val="85000"/>
            </a:schemeClr>
          </a:solidFill>
          <a:ln w="31750" cap="rnd" cmpd="sng" algn="ctr">
            <a:solidFill>
              <a:schemeClr val="accent1"/>
            </a:solidFill>
            <a:round/>
          </a:ln>
          <a:effectLst/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c:spPr>
        <c:marker>
          <c:symbol val="circle"/>
          <c:size val="17"/>
          <c:spPr>
            <a:solidFill>
              <a:schemeClr val="accent1"/>
            </a:solidFill>
            <a:ln w="9525">
              <a:noFill/>
              <a:round/>
            </a:ln>
            <a:effectLst/>
            <a:scene3d>
              <a:camera prst="orthographicFront">
                <a:rot lat="0" lon="0" rev="0"/>
              </a:camera>
              <a:lightRig rig="balanced" dir="t">
                <a:rot lat="0" lon="0" rev="1200000"/>
              </a:lightRig>
            </a:scene3d>
            <a:sp3d prstMaterial="plastic">
              <a:bevelT w="25400" h="25400"/>
            </a:sp3d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>
              <a:alpha val="85000"/>
            </a:schemeClr>
          </a:solidFill>
          <a:ln w="31750" cap="rnd" cmpd="sng" algn="ctr">
            <a:solidFill>
              <a:schemeClr val="accent1"/>
            </a:solidFill>
            <a:round/>
          </a:ln>
          <a:effectLst/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c:spPr>
        <c:marker>
          <c:symbol val="circle"/>
          <c:size val="17"/>
          <c:spPr>
            <a:solidFill>
              <a:schemeClr val="accent1"/>
            </a:solidFill>
            <a:ln w="9525">
              <a:noFill/>
              <a:round/>
            </a:ln>
            <a:effectLst/>
            <a:scene3d>
              <a:camera prst="orthographicFront">
                <a:rot lat="0" lon="0" rev="0"/>
              </a:camera>
              <a:lightRig rig="balanced" dir="t">
                <a:rot lat="0" lon="0" rev="1200000"/>
              </a:lightRig>
            </a:scene3d>
            <a:sp3d prstMaterial="plastic">
              <a:bevelT w="25400" h="25400"/>
            </a:sp3d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gradFill rotWithShape="1">
            <a:gsLst>
              <a:gs pos="0">
                <a:schemeClr val="accent1">
                  <a:tint val="94000"/>
                  <a:satMod val="100000"/>
                  <a:lumMod val="108000"/>
                </a:schemeClr>
              </a:gs>
              <a:gs pos="50000">
                <a:schemeClr val="accent1">
                  <a:tint val="98000"/>
                  <a:shade val="100000"/>
                  <a:satMod val="100000"/>
                  <a:lumMod val="100000"/>
                </a:schemeClr>
              </a:gs>
              <a:gs pos="100000">
                <a:schemeClr val="accent1">
                  <a:shade val="72000"/>
                  <a:satMod val="120000"/>
                  <a:lumMod val="100000"/>
                </a:schemeClr>
              </a:gs>
            </a:gsLst>
            <a:lin ang="5400000" scaled="0"/>
          </a:gradFill>
          <a:ln w="31750" cap="rnd">
            <a:solidFill>
              <a:schemeClr val="accent1"/>
            </a:solidFill>
            <a:round/>
          </a:ln>
          <a:effectLst/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c:spPr>
        <c:marker>
          <c:symbol val="circle"/>
          <c:size val="17"/>
          <c:spPr>
            <a:solidFill>
              <a:schemeClr val="accent1"/>
            </a:solidFill>
            <a:ln w="9525">
              <a:noFill/>
              <a:round/>
            </a:ln>
            <a:effectLst/>
            <a:scene3d>
              <a:camera prst="orthographicFront">
                <a:rot lat="0" lon="0" rev="0"/>
              </a:camera>
              <a:lightRig rig="balanced" dir="t">
                <a:rot lat="0" lon="0" rev="1200000"/>
              </a:lightRig>
            </a:scene3d>
            <a:sp3d prstMaterial="plastic">
              <a:bevelT w="25400" h="25400"/>
            </a:sp3d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lineChart>
        <c:grouping val="standard"/>
        <c:varyColors val="0"/>
        <c:ser>
          <c:idx val="0"/>
          <c:order val="0"/>
          <c:tx>
            <c:strRef>
              <c:f>'Identify peak and low sales sea'!$B$3</c:f>
              <c:strCache>
                <c:ptCount val="1"/>
                <c:pt idx="0">
                  <c:v>Total</c:v>
                </c:pt>
              </c:strCache>
            </c:strRef>
          </c:tx>
          <c:spPr>
            <a:ln w="34925" cap="rnd">
              <a:solidFill>
                <a:schemeClr val="accent1"/>
              </a:solidFill>
              <a:round/>
            </a:ln>
            <a:effectLst>
              <a:outerShdw blurRad="63500" dist="25400" dir="5400000" algn="ctr" rotWithShape="0">
                <a:srgbClr val="000000">
                  <a:alpha val="69000"/>
                </a:srgbClr>
              </a:outerShdw>
            </a:effectLst>
          </c:spPr>
          <c:marker>
            <c:symbol val="none"/>
          </c:marker>
          <c:dLbls>
            <c:delete val="1"/>
          </c:dLbls>
          <c:cat>
            <c:strRef>
              <c:f>'Identify peak and low sales sea'!$A$4:$A$16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'Identify peak and low sales sea'!$B$4:$B$16</c:f>
              <c:numCache>
                <c:formatCode>0</c:formatCode>
                <c:ptCount val="12"/>
                <c:pt idx="0">
                  <c:v>21267061</c:v>
                </c:pt>
                <c:pt idx="1">
                  <c:v>21173447</c:v>
                </c:pt>
                <c:pt idx="2">
                  <c:v>21452011</c:v>
                </c:pt>
                <c:pt idx="3">
                  <c:v>21598042</c:v>
                </c:pt>
                <c:pt idx="4">
                  <c:v>20863586</c:v>
                </c:pt>
                <c:pt idx="5">
                  <c:v>20961114</c:v>
                </c:pt>
                <c:pt idx="6">
                  <c:v>20994856</c:v>
                </c:pt>
                <c:pt idx="7">
                  <c:v>20838031</c:v>
                </c:pt>
                <c:pt idx="8">
                  <c:v>21685214</c:v>
                </c:pt>
                <c:pt idx="9">
                  <c:v>20915998</c:v>
                </c:pt>
                <c:pt idx="10">
                  <c:v>20985443</c:v>
                </c:pt>
                <c:pt idx="11">
                  <c:v>20640931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EE5-4877-978A-0BAF2A2CEA4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smooth val="0"/>
        <c:axId val="1071198624"/>
        <c:axId val="1071216384"/>
      </c:lineChart>
      <c:catAx>
        <c:axId val="107119862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2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71216384"/>
        <c:crosses val="autoZero"/>
        <c:auto val="1"/>
        <c:lblAlgn val="ctr"/>
        <c:lblOffset val="100"/>
        <c:noMultiLvlLbl val="0"/>
      </c:catAx>
      <c:valAx>
        <c:axId val="10712163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7119862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[BMW Sales trends final copy.xlsx]Identify top color choices per !PivotTable19</c:name>
    <c:fmtId val="28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cap="all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/>
              <a:t>SALES VOLUME BY COLOR AND REGION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cap="all" spc="120" normalizeH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1"/>
            </a:solidFill>
            <a:ln w="9525">
              <a:solidFill>
                <a:schemeClr val="accent1"/>
              </a:solidFill>
              <a:round/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2"/>
            </a:solidFill>
            <a:ln w="9525">
              <a:solidFill>
                <a:schemeClr val="accent2"/>
              </a:solidFill>
              <a:round/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3"/>
            </a:solidFill>
            <a:ln w="9525">
              <a:solidFill>
                <a:schemeClr val="accent3"/>
              </a:solidFill>
              <a:round/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4"/>
            </a:solidFill>
            <a:ln w="9525">
              <a:solidFill>
                <a:schemeClr val="accent4"/>
              </a:solidFill>
              <a:round/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5"/>
            </a:solidFill>
            <a:ln w="9525">
              <a:solidFill>
                <a:schemeClr val="accent5"/>
              </a:solidFill>
              <a:round/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6"/>
            </a:solidFill>
            <a:ln w="9525">
              <a:solidFill>
                <a:schemeClr val="accent6"/>
              </a:solidFill>
              <a:round/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1"/>
            </a:solidFill>
            <a:ln w="9525">
              <a:solidFill>
                <a:schemeClr val="accent1"/>
              </a:solidFill>
              <a:round/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2"/>
            </a:solidFill>
            <a:ln w="9525">
              <a:solidFill>
                <a:schemeClr val="accent2"/>
              </a:solidFill>
              <a:round/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3"/>
            </a:solidFill>
            <a:ln w="9525">
              <a:solidFill>
                <a:schemeClr val="accent3"/>
              </a:solidFill>
              <a:round/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4"/>
            </a:solidFill>
            <a:ln w="9525">
              <a:solidFill>
                <a:schemeClr val="accent4"/>
              </a:solidFill>
              <a:round/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5"/>
            </a:solidFill>
            <a:ln w="9525">
              <a:solidFill>
                <a:schemeClr val="accent5"/>
              </a:solidFill>
              <a:round/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6"/>
            </a:solidFill>
            <a:ln w="9525">
              <a:solidFill>
                <a:schemeClr val="accent6"/>
              </a:solidFill>
              <a:round/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2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1"/>
            </a:solidFill>
            <a:ln w="9525">
              <a:solidFill>
                <a:schemeClr val="accent1"/>
              </a:solidFill>
              <a:round/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3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2"/>
            </a:solidFill>
            <a:ln w="9525">
              <a:solidFill>
                <a:schemeClr val="accent2"/>
              </a:solidFill>
              <a:round/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4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3"/>
            </a:solidFill>
            <a:ln w="9525">
              <a:solidFill>
                <a:schemeClr val="accent3"/>
              </a:solidFill>
              <a:round/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5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4"/>
            </a:solidFill>
            <a:ln w="9525">
              <a:solidFill>
                <a:schemeClr val="accent4"/>
              </a:solidFill>
              <a:round/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6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5"/>
            </a:solidFill>
            <a:ln w="9525">
              <a:solidFill>
                <a:schemeClr val="accent5"/>
              </a:solidFill>
              <a:round/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7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6"/>
            </a:solidFill>
            <a:ln w="9525">
              <a:solidFill>
                <a:schemeClr val="accent6"/>
              </a:solidFill>
              <a:round/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'Identify top color choices per '!$B$3:$B$4</c:f>
              <c:strCache>
                <c:ptCount val="1"/>
                <c:pt idx="0">
                  <c:v>Black</c:v>
                </c:pt>
              </c:strCache>
            </c:strRef>
          </c:tx>
          <c:spPr>
            <a:solidFill>
              <a:schemeClr val="tx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'Identify top color choices per '!$A$5:$A$11</c:f>
              <c:strCache>
                <c:ptCount val="6"/>
                <c:pt idx="0">
                  <c:v>Africa</c:v>
                </c:pt>
                <c:pt idx="1">
                  <c:v>Asia</c:v>
                </c:pt>
                <c:pt idx="2">
                  <c:v>Europe</c:v>
                </c:pt>
                <c:pt idx="3">
                  <c:v>Middle East</c:v>
                </c:pt>
                <c:pt idx="4">
                  <c:v>North America</c:v>
                </c:pt>
                <c:pt idx="5">
                  <c:v>South America</c:v>
                </c:pt>
              </c:strCache>
            </c:strRef>
          </c:cat>
          <c:val>
            <c:numRef>
              <c:f>'Identify top color choices per '!$B$5:$B$11</c:f>
              <c:numCache>
                <c:formatCode>0</c:formatCode>
                <c:ptCount val="6"/>
                <c:pt idx="0">
                  <c:v>6623881</c:v>
                </c:pt>
                <c:pt idx="1">
                  <c:v>7527330</c:v>
                </c:pt>
                <c:pt idx="2">
                  <c:v>7492658</c:v>
                </c:pt>
                <c:pt idx="3">
                  <c:v>6725246</c:v>
                </c:pt>
                <c:pt idx="4">
                  <c:v>6785909</c:v>
                </c:pt>
                <c:pt idx="5">
                  <c:v>6555669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0B7-4D42-A2F8-7EDE4BA582A7}"/>
            </c:ext>
          </c:extLst>
        </c:ser>
        <c:ser>
          <c:idx val="1"/>
          <c:order val="1"/>
          <c:tx>
            <c:strRef>
              <c:f>'Identify top color choices per '!$C$3:$C$4</c:f>
              <c:strCache>
                <c:ptCount val="1"/>
                <c:pt idx="0">
                  <c:v>Blue</c:v>
                </c:pt>
              </c:strCache>
            </c:strRef>
          </c:tx>
          <c:spPr>
            <a:solidFill>
              <a:srgbClr val="000099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'Identify top color choices per '!$A$5:$A$11</c:f>
              <c:strCache>
                <c:ptCount val="6"/>
                <c:pt idx="0">
                  <c:v>Africa</c:v>
                </c:pt>
                <c:pt idx="1">
                  <c:v>Asia</c:v>
                </c:pt>
                <c:pt idx="2">
                  <c:v>Europe</c:v>
                </c:pt>
                <c:pt idx="3">
                  <c:v>Middle East</c:v>
                </c:pt>
                <c:pt idx="4">
                  <c:v>North America</c:v>
                </c:pt>
                <c:pt idx="5">
                  <c:v>South America</c:v>
                </c:pt>
              </c:strCache>
            </c:strRef>
          </c:cat>
          <c:val>
            <c:numRef>
              <c:f>'Identify top color choices per '!$C$5:$C$11</c:f>
              <c:numCache>
                <c:formatCode>0</c:formatCode>
                <c:ptCount val="6"/>
                <c:pt idx="0">
                  <c:v>6884183</c:v>
                </c:pt>
                <c:pt idx="1">
                  <c:v>7099311</c:v>
                </c:pt>
                <c:pt idx="2">
                  <c:v>7139262</c:v>
                </c:pt>
                <c:pt idx="3">
                  <c:v>6917547</c:v>
                </c:pt>
                <c:pt idx="4">
                  <c:v>6951081</c:v>
                </c:pt>
                <c:pt idx="5">
                  <c:v>6981357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0B7-4D42-A2F8-7EDE4BA582A7}"/>
            </c:ext>
          </c:extLst>
        </c:ser>
        <c:ser>
          <c:idx val="2"/>
          <c:order val="2"/>
          <c:tx>
            <c:strRef>
              <c:f>'Identify top color choices per '!$D$3:$D$4</c:f>
              <c:strCache>
                <c:ptCount val="1"/>
                <c:pt idx="0">
                  <c:v>Grey</c:v>
                </c:pt>
              </c:strCache>
            </c:strRef>
          </c:tx>
          <c:spPr>
            <a:solidFill>
              <a:schemeClr val="bg1">
                <a:lumMod val="50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'Identify top color choices per '!$A$5:$A$11</c:f>
              <c:strCache>
                <c:ptCount val="6"/>
                <c:pt idx="0">
                  <c:v>Africa</c:v>
                </c:pt>
                <c:pt idx="1">
                  <c:v>Asia</c:v>
                </c:pt>
                <c:pt idx="2">
                  <c:v>Europe</c:v>
                </c:pt>
                <c:pt idx="3">
                  <c:v>Middle East</c:v>
                </c:pt>
                <c:pt idx="4">
                  <c:v>North America</c:v>
                </c:pt>
                <c:pt idx="5">
                  <c:v>South America</c:v>
                </c:pt>
              </c:strCache>
            </c:strRef>
          </c:cat>
          <c:val>
            <c:numRef>
              <c:f>'Identify top color choices per '!$D$5:$D$11</c:f>
              <c:numCache>
                <c:formatCode>0</c:formatCode>
                <c:ptCount val="6"/>
                <c:pt idx="0">
                  <c:v>7095931</c:v>
                </c:pt>
                <c:pt idx="1">
                  <c:v>7210612</c:v>
                </c:pt>
                <c:pt idx="2">
                  <c:v>6902592</c:v>
                </c:pt>
                <c:pt idx="3">
                  <c:v>7252107</c:v>
                </c:pt>
                <c:pt idx="4">
                  <c:v>6866998</c:v>
                </c:pt>
                <c:pt idx="5">
                  <c:v>6666901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0B7-4D42-A2F8-7EDE4BA582A7}"/>
            </c:ext>
          </c:extLst>
        </c:ser>
        <c:ser>
          <c:idx val="3"/>
          <c:order val="3"/>
          <c:tx>
            <c:strRef>
              <c:f>'Identify top color choices per '!$E$3:$E$4</c:f>
              <c:strCache>
                <c:ptCount val="1"/>
                <c:pt idx="0">
                  <c:v>Red</c:v>
                </c:pt>
              </c:strCache>
            </c:strRef>
          </c:tx>
          <c:spPr>
            <a:solidFill>
              <a:srgbClr val="FF0000"/>
            </a:solidFill>
            <a:ln>
              <a:noFill/>
            </a:ln>
            <a:effectLst/>
          </c:spPr>
          <c:invertIfNegative val="0"/>
          <c:dLbls>
            <c:spPr>
              <a:solidFill>
                <a:srgbClr val="FF0000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'Identify top color choices per '!$A$5:$A$11</c:f>
              <c:strCache>
                <c:ptCount val="6"/>
                <c:pt idx="0">
                  <c:v>Africa</c:v>
                </c:pt>
                <c:pt idx="1">
                  <c:v>Asia</c:v>
                </c:pt>
                <c:pt idx="2">
                  <c:v>Europe</c:v>
                </c:pt>
                <c:pt idx="3">
                  <c:v>Middle East</c:v>
                </c:pt>
                <c:pt idx="4">
                  <c:v>North America</c:v>
                </c:pt>
                <c:pt idx="5">
                  <c:v>South America</c:v>
                </c:pt>
              </c:strCache>
            </c:strRef>
          </c:cat>
          <c:val>
            <c:numRef>
              <c:f>'Identify top color choices per '!$E$5:$E$11</c:f>
              <c:numCache>
                <c:formatCode>0</c:formatCode>
                <c:ptCount val="6"/>
                <c:pt idx="0">
                  <c:v>6978435</c:v>
                </c:pt>
                <c:pt idx="1">
                  <c:v>7191807</c:v>
                </c:pt>
                <c:pt idx="2">
                  <c:v>6901077</c:v>
                </c:pt>
                <c:pt idx="3">
                  <c:v>7152329</c:v>
                </c:pt>
                <c:pt idx="4">
                  <c:v>7343076</c:v>
                </c:pt>
                <c:pt idx="5">
                  <c:v>7183459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30B7-4D42-A2F8-7EDE4BA582A7}"/>
            </c:ext>
          </c:extLst>
        </c:ser>
        <c:ser>
          <c:idx val="4"/>
          <c:order val="4"/>
          <c:tx>
            <c:strRef>
              <c:f>'Identify top color choices per '!$F$3:$F$4</c:f>
              <c:strCache>
                <c:ptCount val="1"/>
                <c:pt idx="0">
                  <c:v>Silver</c:v>
                </c:pt>
              </c:strCache>
            </c:strRef>
          </c:tx>
          <c:spPr>
            <a:solidFill>
              <a:schemeClr val="bg1">
                <a:lumMod val="75000"/>
              </a:schemeClr>
            </a:solidFill>
            <a:ln>
              <a:noFill/>
            </a:ln>
            <a:effectLst/>
          </c:spPr>
          <c:invertIfNegative val="0"/>
          <c:dLbls>
            <c:spPr>
              <a:solidFill>
                <a:schemeClr val="bg1">
                  <a:lumMod val="75000"/>
                </a:schemeClr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'Identify top color choices per '!$A$5:$A$11</c:f>
              <c:strCache>
                <c:ptCount val="6"/>
                <c:pt idx="0">
                  <c:v>Africa</c:v>
                </c:pt>
                <c:pt idx="1">
                  <c:v>Asia</c:v>
                </c:pt>
                <c:pt idx="2">
                  <c:v>Europe</c:v>
                </c:pt>
                <c:pt idx="3">
                  <c:v>Middle East</c:v>
                </c:pt>
                <c:pt idx="4">
                  <c:v>North America</c:v>
                </c:pt>
                <c:pt idx="5">
                  <c:v>South America</c:v>
                </c:pt>
              </c:strCache>
            </c:strRef>
          </c:cat>
          <c:val>
            <c:numRef>
              <c:f>'Identify top color choices per '!$F$5:$F$11</c:f>
              <c:numCache>
                <c:formatCode>0</c:formatCode>
                <c:ptCount val="6"/>
                <c:pt idx="0">
                  <c:v>6885841</c:v>
                </c:pt>
                <c:pt idx="1">
                  <c:v>6949489</c:v>
                </c:pt>
                <c:pt idx="2">
                  <c:v>7054779</c:v>
                </c:pt>
                <c:pt idx="3">
                  <c:v>7329540</c:v>
                </c:pt>
                <c:pt idx="4">
                  <c:v>7405887</c:v>
                </c:pt>
                <c:pt idx="5">
                  <c:v>7048486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0B7-4D42-A2F8-7EDE4BA582A7}"/>
            </c:ext>
          </c:extLst>
        </c:ser>
        <c:ser>
          <c:idx val="5"/>
          <c:order val="5"/>
          <c:tx>
            <c:strRef>
              <c:f>'Identify top color choices per '!$G$3:$G$4</c:f>
              <c:strCache>
                <c:ptCount val="1"/>
                <c:pt idx="0">
                  <c:v>White</c:v>
                </c:pt>
              </c:strCache>
            </c:strRef>
          </c:tx>
          <c:spPr>
            <a:solidFill>
              <a:schemeClr val="bg1"/>
            </a:solidFill>
            <a:ln>
              <a:noFill/>
            </a:ln>
            <a:effectLst/>
          </c:spPr>
          <c:invertIfNegative val="0"/>
          <c:dLbls>
            <c:spPr>
              <a:solidFill>
                <a:schemeClr val="bg1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'Identify top color choices per '!$A$5:$A$11</c:f>
              <c:strCache>
                <c:ptCount val="6"/>
                <c:pt idx="0">
                  <c:v>Africa</c:v>
                </c:pt>
                <c:pt idx="1">
                  <c:v>Asia</c:v>
                </c:pt>
                <c:pt idx="2">
                  <c:v>Europe</c:v>
                </c:pt>
                <c:pt idx="3">
                  <c:v>Middle East</c:v>
                </c:pt>
                <c:pt idx="4">
                  <c:v>North America</c:v>
                </c:pt>
                <c:pt idx="5">
                  <c:v>South America</c:v>
                </c:pt>
              </c:strCache>
            </c:strRef>
          </c:cat>
          <c:val>
            <c:numRef>
              <c:f>'Identify top color choices per '!$G$5:$G$11</c:f>
              <c:numCache>
                <c:formatCode>0</c:formatCode>
                <c:ptCount val="6"/>
                <c:pt idx="0">
                  <c:v>7096981</c:v>
                </c:pt>
                <c:pt idx="1">
                  <c:v>6995728</c:v>
                </c:pt>
                <c:pt idx="2">
                  <c:v>7064770</c:v>
                </c:pt>
                <c:pt idx="3">
                  <c:v>6949851</c:v>
                </c:pt>
                <c:pt idx="4">
                  <c:v>7049678</c:v>
                </c:pt>
                <c:pt idx="5">
                  <c:v>7115946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30B7-4D42-A2F8-7EDE4BA582A7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79"/>
        <c:overlap val="100"/>
        <c:axId val="1691912575"/>
        <c:axId val="1691914975"/>
      </c:barChart>
      <c:catAx>
        <c:axId val="169191257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64" b="0" i="0" u="none" strike="noStrike" kern="1200" cap="all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91914975"/>
        <c:crosses val="autoZero"/>
        <c:auto val="1"/>
        <c:lblAlgn val="ctr"/>
        <c:lblOffset val="100"/>
        <c:noMultiLvlLbl val="0"/>
      </c:catAx>
      <c:valAx>
        <c:axId val="1691914975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169191257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91570953905545049"/>
          <c:y val="0.16152516901092431"/>
          <c:w val="8.4290441141186515E-2"/>
          <c:h val="0.7852931908626650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pivotSource>
    <c:name>[Copy_of_Copy_of_BMW_Sales_Date_Alignment_2(1).xlsx]Understand buyer preference for!PivotTable15</c:name>
    <c:fmtId val="20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b="0" i="0" u="none" strike="noStrike" kern="1200" baseline="0">
                <a:solidFill>
                  <a:schemeClr val="dk1">
                    <a:lumMod val="65000"/>
                    <a:lumOff val="35000"/>
                  </a:schemeClr>
                </a:solidFill>
                <a:effectLst/>
                <a:latin typeface="+mn-lt"/>
                <a:ea typeface="+mn-ea"/>
                <a:cs typeface="+mn-cs"/>
              </a:defRPr>
            </a:pPr>
            <a:r>
              <a:rPr lang="en-IN"/>
              <a:t>SALES BY VOLUME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b="0" i="0" u="none" strike="noStrike" kern="1200" baseline="0">
              <a:solidFill>
                <a:schemeClr val="dk1">
                  <a:lumMod val="65000"/>
                  <a:lumOff val="35000"/>
                </a:schemeClr>
              </a:solidFill>
              <a:effectLst/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gradFill>
            <a:gsLst>
              <a:gs pos="0">
                <a:schemeClr val="accent6"/>
              </a:gs>
              <a:gs pos="100000">
                <a:schemeClr val="accent6">
                  <a:lumMod val="84000"/>
                </a:schemeClr>
              </a:gs>
            </a:gsLst>
            <a:lin ang="5400000" scaled="1"/>
          </a:gradFill>
          <a:ln>
            <a:noFill/>
          </a:ln>
          <a:effectLst>
            <a:innerShdw dist="12700" dir="16200000">
              <a:schemeClr val="lt1"/>
            </a:inn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dk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gradFill>
            <a:gsLst>
              <a:gs pos="0">
                <a:schemeClr val="accent6"/>
              </a:gs>
              <a:gs pos="100000">
                <a:schemeClr val="accent6">
                  <a:lumMod val="84000"/>
                </a:schemeClr>
              </a:gs>
            </a:gsLst>
            <a:lin ang="5400000" scaled="1"/>
          </a:gradFill>
          <a:ln>
            <a:noFill/>
          </a:ln>
          <a:effectLst>
            <a:innerShdw dist="12700" dir="16200000">
              <a:schemeClr val="lt1"/>
            </a:inn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dk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gradFill>
            <a:gsLst>
              <a:gs pos="0">
                <a:schemeClr val="accent6"/>
              </a:gs>
              <a:gs pos="100000">
                <a:schemeClr val="accent6">
                  <a:lumMod val="84000"/>
                </a:schemeClr>
              </a:gs>
            </a:gsLst>
            <a:lin ang="5400000" scaled="1"/>
          </a:gradFill>
          <a:ln>
            <a:noFill/>
          </a:ln>
          <a:effectLst>
            <a:innerShdw dist="12700" dir="16200000">
              <a:schemeClr val="lt1"/>
            </a:inn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dk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0.26401912051496357"/>
          <c:y val="0.28866940545475295"/>
          <c:w val="0.53244563703280112"/>
          <c:h val="0.4940465593974666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'Understand buyer preference for'!$B$3</c:f>
              <c:strCache>
                <c:ptCount val="1"/>
                <c:pt idx="0">
                  <c:v>Total</c:v>
                </c:pt>
              </c:strCache>
            </c:strRef>
          </c:tx>
          <c:spPr>
            <a:gradFill>
              <a:gsLst>
                <a:gs pos="0">
                  <a:schemeClr val="accent6"/>
                </a:gs>
                <a:gs pos="100000">
                  <a:schemeClr val="accent6">
                    <a:lumMod val="84000"/>
                  </a:schemeClr>
                </a:gs>
              </a:gsLst>
              <a:lin ang="5400000" scaled="1"/>
            </a:gradFill>
            <a:ln>
              <a:noFill/>
            </a:ln>
            <a:effectLst>
              <a:outerShdw blurRad="76200" dir="18900000" sy="23000" kx="-1200000" algn="bl" rotWithShape="0">
                <a:prstClr val="black">
                  <a:alpha val="20000"/>
                </a:prstClr>
              </a:outerShdw>
            </a:effectLst>
          </c:spPr>
          <c:invertIfNegative val="0"/>
          <c:dPt>
            <c:idx val="1"/>
            <c:invertIfNegative val="0"/>
            <c:bubble3D val="0"/>
            <c:spPr>
              <a:solidFill>
                <a:schemeClr val="accent2">
                  <a:lumMod val="75000"/>
                </a:schemeClr>
              </a:solidFill>
              <a:ln>
                <a:noFill/>
              </a:ln>
              <a:effectLst>
                <a:outerShdw blurRad="76200" dir="18900000" sy="23000" kx="-1200000" algn="b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8460-4CA4-8C2E-0599AC8AA39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330" b="1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'Understand buyer preference for'!$A$4:$A$6</c:f>
              <c:strCache>
                <c:ptCount val="2"/>
                <c:pt idx="0">
                  <c:v>Automatic</c:v>
                </c:pt>
                <c:pt idx="1">
                  <c:v>Manual</c:v>
                </c:pt>
              </c:strCache>
            </c:strRef>
          </c:cat>
          <c:val>
            <c:numRef>
              <c:f>'Understand buyer preference for'!$B$4:$B$6</c:f>
              <c:numCache>
                <c:formatCode>0</c:formatCode>
                <c:ptCount val="2"/>
                <c:pt idx="0">
                  <c:v>126013657</c:v>
                </c:pt>
                <c:pt idx="1">
                  <c:v>127362077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460-4CA4-8C2E-0599AC8AA399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41"/>
        <c:axId val="1691886175"/>
        <c:axId val="1691910655"/>
      </c:barChart>
      <c:catAx>
        <c:axId val="169188617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1" i="0" u="none" strike="noStrike" kern="1200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91910655"/>
        <c:crosses val="autoZero"/>
        <c:auto val="1"/>
        <c:lblAlgn val="ctr"/>
        <c:lblOffset val="100"/>
        <c:noMultiLvlLbl val="0"/>
      </c:catAx>
      <c:valAx>
        <c:axId val="1691910655"/>
        <c:scaling>
          <c:orientation val="minMax"/>
        </c:scaling>
        <c:delete val="1"/>
        <c:axPos val="l"/>
        <c:numFmt formatCode="0" sourceLinked="1"/>
        <c:majorTickMark val="none"/>
        <c:minorTickMark val="none"/>
        <c:tickLblPos val="nextTo"/>
        <c:crossAx val="169188617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dk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zero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gradFill flip="none" rotWithShape="1">
      <a:gsLst>
        <a:gs pos="0">
          <a:schemeClr val="lt1"/>
        </a:gs>
        <a:gs pos="68000">
          <a:schemeClr val="lt1">
            <a:lumMod val="85000"/>
          </a:schemeClr>
        </a:gs>
        <a:gs pos="100000">
          <a:schemeClr val="lt1"/>
        </a:gs>
      </a:gsLst>
      <a:lin ang="5400000" scaled="1"/>
      <a:tileRect/>
    </a:gradFill>
    <a:ln w="9525" cap="flat" cmpd="sng" algn="ctr">
      <a:solidFill>
        <a:schemeClr val="dk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[Copy_of_Copy_of_BMW_Sales_Date_Alignment_2(1).xlsx]Identify top color choices per !PivotTable19</c:name>
    <c:fmtId val="46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/>
              <a:t>SALES VOLUME BY COLOR AND REGION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1"/>
            </a:solidFill>
            <a:ln w="9525">
              <a:solidFill>
                <a:schemeClr val="accent1"/>
              </a:solidFill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2"/>
            </a:solidFill>
            <a:ln w="9525">
              <a:solidFill>
                <a:schemeClr val="accent2"/>
              </a:solidFill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3"/>
            </a:solidFill>
            <a:ln w="9525">
              <a:solidFill>
                <a:schemeClr val="accent3"/>
              </a:solidFill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4"/>
            </a:solidFill>
            <a:ln w="9525">
              <a:solidFill>
                <a:schemeClr val="accent4"/>
              </a:solidFill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5"/>
            </a:solidFill>
            <a:ln w="9525">
              <a:solidFill>
                <a:schemeClr val="accent5"/>
              </a:solidFill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6"/>
            </a:solidFill>
            <a:ln w="9525">
              <a:solidFill>
                <a:schemeClr val="accent6"/>
              </a:solidFill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1"/>
            </a:solidFill>
            <a:ln w="9525">
              <a:solidFill>
                <a:schemeClr val="accent1"/>
              </a:solidFill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2"/>
            </a:solidFill>
            <a:ln w="9525">
              <a:solidFill>
                <a:schemeClr val="accent2"/>
              </a:solidFill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3"/>
            </a:solidFill>
            <a:ln w="9525">
              <a:solidFill>
                <a:schemeClr val="accent3"/>
              </a:solidFill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4"/>
            </a:solidFill>
            <a:ln w="9525">
              <a:solidFill>
                <a:schemeClr val="accent4"/>
              </a:solidFill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5"/>
            </a:solidFill>
            <a:ln w="9525">
              <a:solidFill>
                <a:schemeClr val="accent5"/>
              </a:solidFill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6"/>
            </a:solidFill>
            <a:ln w="9525">
              <a:solidFill>
                <a:schemeClr val="accent6"/>
              </a:solidFill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2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1"/>
            </a:solidFill>
            <a:ln w="9525">
              <a:solidFill>
                <a:schemeClr val="accent1"/>
              </a:solidFill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3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2"/>
            </a:solidFill>
            <a:ln w="9525">
              <a:solidFill>
                <a:schemeClr val="accent2"/>
              </a:solidFill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4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3"/>
            </a:solidFill>
            <a:ln w="9525">
              <a:solidFill>
                <a:schemeClr val="accent3"/>
              </a:solidFill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5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4"/>
            </a:solidFill>
            <a:ln w="9525">
              <a:solidFill>
                <a:schemeClr val="accent4"/>
              </a:solidFill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6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5"/>
            </a:solidFill>
            <a:ln w="9525">
              <a:solidFill>
                <a:schemeClr val="accent5"/>
              </a:solidFill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7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6"/>
            </a:solidFill>
            <a:ln w="9525">
              <a:solidFill>
                <a:schemeClr val="accent6"/>
              </a:solidFill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lineChart>
        <c:grouping val="standard"/>
        <c:varyColors val="0"/>
        <c:ser>
          <c:idx val="0"/>
          <c:order val="0"/>
          <c:tx>
            <c:strRef>
              <c:f>'Identify top color choices per '!$B$3:$B$4</c:f>
              <c:strCache>
                <c:ptCount val="1"/>
                <c:pt idx="0">
                  <c:v>Black</c:v>
                </c:pt>
              </c:strCache>
            </c:strRef>
          </c:tx>
          <c:spPr>
            <a:ln w="28575" cap="rnd">
              <a:solidFill>
                <a:schemeClr val="tx1">
                  <a:lumMod val="95000"/>
                  <a:lumOff val="5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>
                    <a:lumMod val="95000"/>
                    <a:lumOff val="5000"/>
                  </a:schemeClr>
                </a:solidFill>
              </a:ln>
              <a:effectLst/>
            </c:spPr>
          </c:marker>
          <c:cat>
            <c:strRef>
              <c:f>'Identify top color choices per '!$A$5:$A$11</c:f>
              <c:strCache>
                <c:ptCount val="6"/>
                <c:pt idx="0">
                  <c:v>Africa</c:v>
                </c:pt>
                <c:pt idx="1">
                  <c:v>Asia</c:v>
                </c:pt>
                <c:pt idx="2">
                  <c:v>Europe</c:v>
                </c:pt>
                <c:pt idx="3">
                  <c:v>Middle East</c:v>
                </c:pt>
                <c:pt idx="4">
                  <c:v>North America</c:v>
                </c:pt>
                <c:pt idx="5">
                  <c:v>South America</c:v>
                </c:pt>
              </c:strCache>
            </c:strRef>
          </c:cat>
          <c:val>
            <c:numRef>
              <c:f>'Identify top color choices per '!$B$5:$B$11</c:f>
              <c:numCache>
                <c:formatCode>0</c:formatCode>
                <c:ptCount val="6"/>
                <c:pt idx="0">
                  <c:v>6623881</c:v>
                </c:pt>
                <c:pt idx="1">
                  <c:v>7527330</c:v>
                </c:pt>
                <c:pt idx="2">
                  <c:v>7492658</c:v>
                </c:pt>
                <c:pt idx="3">
                  <c:v>6725246</c:v>
                </c:pt>
                <c:pt idx="4">
                  <c:v>6785909</c:v>
                </c:pt>
                <c:pt idx="5">
                  <c:v>6555669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22C-4155-92BC-028ABE73D19F}"/>
            </c:ext>
          </c:extLst>
        </c:ser>
        <c:ser>
          <c:idx val="1"/>
          <c:order val="1"/>
          <c:tx>
            <c:strRef>
              <c:f>'Identify top color choices per '!$C$3:$C$4</c:f>
              <c:strCache>
                <c:ptCount val="1"/>
                <c:pt idx="0">
                  <c:v>Blue</c:v>
                </c:pt>
              </c:strCache>
            </c:strRef>
          </c:tx>
          <c:spPr>
            <a:ln w="28575" cap="rnd">
              <a:solidFill>
                <a:srgbClr val="000099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000099"/>
              </a:solidFill>
              <a:ln w="9525">
                <a:solidFill>
                  <a:srgbClr val="000099"/>
                </a:solidFill>
              </a:ln>
              <a:effectLst/>
            </c:spPr>
          </c:marker>
          <c:cat>
            <c:strRef>
              <c:f>'Identify top color choices per '!$A$5:$A$11</c:f>
              <c:strCache>
                <c:ptCount val="6"/>
                <c:pt idx="0">
                  <c:v>Africa</c:v>
                </c:pt>
                <c:pt idx="1">
                  <c:v>Asia</c:v>
                </c:pt>
                <c:pt idx="2">
                  <c:v>Europe</c:v>
                </c:pt>
                <c:pt idx="3">
                  <c:v>Middle East</c:v>
                </c:pt>
                <c:pt idx="4">
                  <c:v>North America</c:v>
                </c:pt>
                <c:pt idx="5">
                  <c:v>South America</c:v>
                </c:pt>
              </c:strCache>
            </c:strRef>
          </c:cat>
          <c:val>
            <c:numRef>
              <c:f>'Identify top color choices per '!$C$5:$C$11</c:f>
              <c:numCache>
                <c:formatCode>0</c:formatCode>
                <c:ptCount val="6"/>
                <c:pt idx="0">
                  <c:v>6884183</c:v>
                </c:pt>
                <c:pt idx="1">
                  <c:v>7099311</c:v>
                </c:pt>
                <c:pt idx="2">
                  <c:v>7139262</c:v>
                </c:pt>
                <c:pt idx="3">
                  <c:v>6917547</c:v>
                </c:pt>
                <c:pt idx="4">
                  <c:v>6951081</c:v>
                </c:pt>
                <c:pt idx="5">
                  <c:v>6981357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22C-4155-92BC-028ABE73D19F}"/>
            </c:ext>
          </c:extLst>
        </c:ser>
        <c:ser>
          <c:idx val="2"/>
          <c:order val="2"/>
          <c:tx>
            <c:strRef>
              <c:f>'Identify top color choices per '!$D$3:$D$4</c:f>
              <c:strCache>
                <c:ptCount val="1"/>
                <c:pt idx="0">
                  <c:v>Grey</c:v>
                </c:pt>
              </c:strCache>
            </c:strRef>
          </c:tx>
          <c:spPr>
            <a:ln w="28575" cap="rnd">
              <a:solidFill>
                <a:schemeClr val="bg1">
                  <a:lumMod val="5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bg1">
                  <a:lumMod val="50000"/>
                </a:schemeClr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</c:marker>
          <c:cat>
            <c:strRef>
              <c:f>'Identify top color choices per '!$A$5:$A$11</c:f>
              <c:strCache>
                <c:ptCount val="6"/>
                <c:pt idx="0">
                  <c:v>Africa</c:v>
                </c:pt>
                <c:pt idx="1">
                  <c:v>Asia</c:v>
                </c:pt>
                <c:pt idx="2">
                  <c:v>Europe</c:v>
                </c:pt>
                <c:pt idx="3">
                  <c:v>Middle East</c:v>
                </c:pt>
                <c:pt idx="4">
                  <c:v>North America</c:v>
                </c:pt>
                <c:pt idx="5">
                  <c:v>South America</c:v>
                </c:pt>
              </c:strCache>
            </c:strRef>
          </c:cat>
          <c:val>
            <c:numRef>
              <c:f>'Identify top color choices per '!$D$5:$D$11</c:f>
              <c:numCache>
                <c:formatCode>0</c:formatCode>
                <c:ptCount val="6"/>
                <c:pt idx="0">
                  <c:v>7095931</c:v>
                </c:pt>
                <c:pt idx="1">
                  <c:v>7210612</c:v>
                </c:pt>
                <c:pt idx="2">
                  <c:v>6902592</c:v>
                </c:pt>
                <c:pt idx="3">
                  <c:v>7252107</c:v>
                </c:pt>
                <c:pt idx="4">
                  <c:v>6866998</c:v>
                </c:pt>
                <c:pt idx="5">
                  <c:v>6666901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22C-4155-92BC-028ABE73D19F}"/>
            </c:ext>
          </c:extLst>
        </c:ser>
        <c:ser>
          <c:idx val="3"/>
          <c:order val="3"/>
          <c:tx>
            <c:strRef>
              <c:f>'Identify top color choices per '!$E$3:$E$4</c:f>
              <c:strCache>
                <c:ptCount val="1"/>
                <c:pt idx="0">
                  <c:v>Red</c:v>
                </c:pt>
              </c:strCache>
            </c:strRef>
          </c:tx>
          <c:spPr>
            <a:ln w="28575" cap="rnd">
              <a:solidFill>
                <a:srgbClr val="FF0000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FF0000"/>
              </a:solidFill>
              <a:ln w="9525">
                <a:solidFill>
                  <a:srgbClr val="FF0000"/>
                </a:solidFill>
              </a:ln>
              <a:effectLst/>
            </c:spPr>
          </c:marker>
          <c:cat>
            <c:strRef>
              <c:f>'Identify top color choices per '!$A$5:$A$11</c:f>
              <c:strCache>
                <c:ptCount val="6"/>
                <c:pt idx="0">
                  <c:v>Africa</c:v>
                </c:pt>
                <c:pt idx="1">
                  <c:v>Asia</c:v>
                </c:pt>
                <c:pt idx="2">
                  <c:v>Europe</c:v>
                </c:pt>
                <c:pt idx="3">
                  <c:v>Middle East</c:v>
                </c:pt>
                <c:pt idx="4">
                  <c:v>North America</c:v>
                </c:pt>
                <c:pt idx="5">
                  <c:v>South America</c:v>
                </c:pt>
              </c:strCache>
            </c:strRef>
          </c:cat>
          <c:val>
            <c:numRef>
              <c:f>'Identify top color choices per '!$E$5:$E$11</c:f>
              <c:numCache>
                <c:formatCode>0</c:formatCode>
                <c:ptCount val="6"/>
                <c:pt idx="0">
                  <c:v>6978435</c:v>
                </c:pt>
                <c:pt idx="1">
                  <c:v>7191807</c:v>
                </c:pt>
                <c:pt idx="2">
                  <c:v>6901077</c:v>
                </c:pt>
                <c:pt idx="3">
                  <c:v>7152329</c:v>
                </c:pt>
                <c:pt idx="4">
                  <c:v>7343076</c:v>
                </c:pt>
                <c:pt idx="5">
                  <c:v>7183459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D22C-4155-92BC-028ABE73D19F}"/>
            </c:ext>
          </c:extLst>
        </c:ser>
        <c:ser>
          <c:idx val="4"/>
          <c:order val="4"/>
          <c:tx>
            <c:strRef>
              <c:f>'Identify top color choices per '!$F$3:$F$4</c:f>
              <c:strCache>
                <c:ptCount val="1"/>
                <c:pt idx="0">
                  <c:v>Silver</c:v>
                </c:pt>
              </c:strCache>
            </c:strRef>
          </c:tx>
          <c:spPr>
            <a:ln w="28575" cap="rnd">
              <a:solidFill>
                <a:schemeClr val="bg1">
                  <a:lumMod val="85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bg1">
                  <a:lumMod val="85000"/>
                </a:schemeClr>
              </a:solidFill>
              <a:ln w="9525">
                <a:solidFill>
                  <a:schemeClr val="bg1">
                    <a:lumMod val="85000"/>
                  </a:schemeClr>
                </a:solidFill>
              </a:ln>
              <a:effectLst/>
            </c:spPr>
          </c:marker>
          <c:cat>
            <c:strRef>
              <c:f>'Identify top color choices per '!$A$5:$A$11</c:f>
              <c:strCache>
                <c:ptCount val="6"/>
                <c:pt idx="0">
                  <c:v>Africa</c:v>
                </c:pt>
                <c:pt idx="1">
                  <c:v>Asia</c:v>
                </c:pt>
                <c:pt idx="2">
                  <c:v>Europe</c:v>
                </c:pt>
                <c:pt idx="3">
                  <c:v>Middle East</c:v>
                </c:pt>
                <c:pt idx="4">
                  <c:v>North America</c:v>
                </c:pt>
                <c:pt idx="5">
                  <c:v>South America</c:v>
                </c:pt>
              </c:strCache>
            </c:strRef>
          </c:cat>
          <c:val>
            <c:numRef>
              <c:f>'Identify top color choices per '!$F$5:$F$11</c:f>
              <c:numCache>
                <c:formatCode>0</c:formatCode>
                <c:ptCount val="6"/>
                <c:pt idx="0">
                  <c:v>6885841</c:v>
                </c:pt>
                <c:pt idx="1">
                  <c:v>6949489</c:v>
                </c:pt>
                <c:pt idx="2">
                  <c:v>7054779</c:v>
                </c:pt>
                <c:pt idx="3">
                  <c:v>7329540</c:v>
                </c:pt>
                <c:pt idx="4">
                  <c:v>7405887</c:v>
                </c:pt>
                <c:pt idx="5">
                  <c:v>7048486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D22C-4155-92BC-028ABE73D19F}"/>
            </c:ext>
          </c:extLst>
        </c:ser>
        <c:ser>
          <c:idx val="5"/>
          <c:order val="5"/>
          <c:tx>
            <c:strRef>
              <c:f>'Identify top color choices per '!$G$3:$G$4</c:f>
              <c:strCache>
                <c:ptCount val="1"/>
                <c:pt idx="0">
                  <c:v>White</c:v>
                </c:pt>
              </c:strCache>
            </c:strRef>
          </c:tx>
          <c:spPr>
            <a:ln w="28575" cap="rnd">
              <a:solidFill>
                <a:schemeClr val="bg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bg1"/>
              </a:solidFill>
              <a:ln w="9525">
                <a:solidFill>
                  <a:schemeClr val="bg1"/>
                </a:solidFill>
              </a:ln>
              <a:effectLst/>
            </c:spPr>
          </c:marker>
          <c:cat>
            <c:strRef>
              <c:f>'Identify top color choices per '!$A$5:$A$11</c:f>
              <c:strCache>
                <c:ptCount val="6"/>
                <c:pt idx="0">
                  <c:v>Africa</c:v>
                </c:pt>
                <c:pt idx="1">
                  <c:v>Asia</c:v>
                </c:pt>
                <c:pt idx="2">
                  <c:v>Europe</c:v>
                </c:pt>
                <c:pt idx="3">
                  <c:v>Middle East</c:v>
                </c:pt>
                <c:pt idx="4">
                  <c:v>North America</c:v>
                </c:pt>
                <c:pt idx="5">
                  <c:v>South America</c:v>
                </c:pt>
              </c:strCache>
            </c:strRef>
          </c:cat>
          <c:val>
            <c:numRef>
              <c:f>'Identify top color choices per '!$G$5:$G$11</c:f>
              <c:numCache>
                <c:formatCode>0</c:formatCode>
                <c:ptCount val="6"/>
                <c:pt idx="0">
                  <c:v>7096981</c:v>
                </c:pt>
                <c:pt idx="1">
                  <c:v>6995728</c:v>
                </c:pt>
                <c:pt idx="2">
                  <c:v>7064770</c:v>
                </c:pt>
                <c:pt idx="3">
                  <c:v>6949851</c:v>
                </c:pt>
                <c:pt idx="4">
                  <c:v>7049678</c:v>
                </c:pt>
                <c:pt idx="5">
                  <c:v>7115946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D22C-4155-92BC-028ABE73D19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1912575"/>
        <c:axId val="1691914975"/>
      </c:lineChart>
      <c:catAx>
        <c:axId val="169191257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91914975"/>
        <c:crosses val="autoZero"/>
        <c:auto val="1"/>
        <c:lblAlgn val="ctr"/>
        <c:lblOffset val="100"/>
        <c:noMultiLvlLbl val="0"/>
      </c:catAx>
      <c:valAx>
        <c:axId val="169191497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9191257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91758559132314343"/>
          <c:y val="6.9180083037476678E-2"/>
          <c:w val="7.5061467500385975E-2"/>
          <c:h val="0.90768542013885134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withinLinearReversed" id="26">
  <a:schemeClr val="accent6"/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7" b="0" kern="1200" cap="none" spc="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75000"/>
        <a:lumOff val="25000"/>
      </a:schemeClr>
    </cs:fontRef>
    <cs:spPr>
      <a:solidFill>
        <a:schemeClr val="dk1">
          <a:lumMod val="15000"/>
          <a:lumOff val="85000"/>
        </a:schemeClr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38100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Marker>
  <cs:dataPointMarkerLayout symbol="circle" size="8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ajor">
      <a:schemeClr val="tx1">
        <a:lumMod val="65000"/>
        <a:lumOff val="35000"/>
      </a:schemeClr>
    </cs:fontRef>
    <cs:defRPr sz="2200" b="0" kern="1200" cap="none" spc="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round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50000"/>
            <a:lumOff val="50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33">
  <cs:axisTitle>
    <cs:lnRef idx="0"/>
    <cs:fillRef idx="0"/>
    <cs:effectRef idx="0"/>
    <cs:fontRef idx="minor">
      <a:schemeClr val="lt1">
        <a:lumMod val="85000"/>
      </a:schemeClr>
    </cs:fontRef>
    <cs:defRPr sz="1197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  <cs:defRPr sz="1197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330" kern="1200"/>
  </cs:chartArea>
  <cs:dataLabel>
    <cs:lnRef idx="0"/>
    <cs:fillRef idx="0"/>
    <cs:effectRef idx="0"/>
    <cs:fontRef idx="minor">
      <a:schemeClr val="lt1">
        <a:lumMod val="8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1197" kern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2128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1197" kern="1200"/>
  </cs:valueAxis>
  <cs:wall>
    <cs:lnRef idx="0"/>
    <cs:fillRef idx="0"/>
    <cs:effectRef idx="0"/>
    <cs:fontRef idx="minor">
      <a:schemeClr val="tx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29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7" b="0" kern="1200" cap="none" spc="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75000"/>
        <a:lumOff val="25000"/>
      </a:schemeClr>
    </cs:fontRef>
    <cs:spPr>
      <a:solidFill>
        <a:schemeClr val="dk1">
          <a:lumMod val="15000"/>
          <a:lumOff val="85000"/>
        </a:schemeClr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38100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Marker>
  <cs:dataPointMarkerLayout symbol="circle" size="8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ajor">
      <a:schemeClr val="tx1">
        <a:lumMod val="65000"/>
        <a:lumOff val="35000"/>
      </a:schemeClr>
    </cs:fontRef>
    <cs:defRPr sz="2200" b="0" kern="1200" cap="none" spc="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round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50000"/>
            <a:lumOff val="50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34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5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6.xml><?xml version="1.0" encoding="utf-8"?>
<cs:chartStyle xmlns:cs="http://schemas.microsoft.com/office/drawing/2012/chartStyle" xmlns:a="http://schemas.openxmlformats.org/drawingml/2006/main" id="204">
  <cs:axisTitle>
    <cs:lnRef idx="0"/>
    <cs:fillRef idx="0"/>
    <cs:effectRef idx="0"/>
    <cs:fontRef idx="minor">
      <a:schemeClr val="dk1">
        <a:lumMod val="65000"/>
        <a:lumOff val="35000"/>
      </a:schemeClr>
    </cs:fontRef>
    <cs:defRPr sz="1197" b="1" kern="1200"/>
  </cs:axisTitle>
  <cs:category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>
      <a:effectLst/>
    </cs:defRPr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lt1"/>
          </a:gs>
          <a:gs pos="68000">
            <a:schemeClr val="lt1">
              <a:lumMod val="85000"/>
            </a:schemeClr>
          </a:gs>
          <a:gs pos="100000">
            <a:schemeClr val="lt1"/>
          </a:gs>
        </a:gsLst>
        <a:lin ang="5400000" scaled="1"/>
        <a:tileRect/>
      </a:gradFill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lt1"/>
    </cs:fontRef>
    <cs:spPr/>
    <cs:defRPr sz="1330" b="1" i="0" u="none" strike="noStrike" kern="1200" baseline="0"/>
  </cs:dataLabel>
  <cs:dataLabelCallout>
    <cs:lnRef idx="0"/>
    <cs:fillRef idx="0"/>
    <cs:effectRef idx="0"/>
    <cs:fontRef idx="minor">
      <a:schemeClr val="lt1"/>
    </cs:fontRef>
    <cs:spPr>
      <a:solidFill>
        <a:schemeClr val="dk1">
          <a:lumMod val="65000"/>
          <a:lumOff val="35000"/>
          <a:alpha val="75000"/>
        </a:schemeClr>
      </a:solidFill>
    </cs:spPr>
    <cs:defRPr sz="1330" b="1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100000">
            <a:schemeClr val="phClr">
              <a:lumMod val="84000"/>
            </a:schemeClr>
          </a:gs>
        </a:gsLst>
        <a:lin ang="5400000" scaled="1"/>
      </a:gradFill>
      <a:effectLst>
        <a:outerShdw blurRad="76200" dir="18900000" sy="23000" kx="-1200000" algn="bl" rotWithShape="0">
          <a:prstClr val="black">
            <a:alpha val="20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100000">
            <a:schemeClr val="phClr">
              <a:lumMod val="84000"/>
            </a:schemeClr>
          </a:gs>
        </a:gsLst>
        <a:lin ang="5400000" scaled="1"/>
      </a:gradFill>
      <a:effectLst>
        <a:outerShdw blurRad="76200" dir="18900000" sy="23000" kx="-1200000" algn="bl" rotWithShape="0">
          <a:prstClr val="black">
            <a:alpha val="20000"/>
          </a:prstClr>
        </a:outerShdw>
      </a:effectLst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gradFill>
          <a:gsLst>
            <a:gs pos="0">
              <a:schemeClr val="phClr"/>
            </a:gs>
            <a:gs pos="100000">
              <a:schemeClr val="phClr">
                <a:lumMod val="84000"/>
              </a:schemeClr>
            </a:gs>
          </a:gsLst>
          <a:lin ang="5400000" scaled="1"/>
        </a:gra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100000">
            <a:schemeClr val="phClr">
              <a:lumMod val="84000"/>
            </a:schemeClr>
          </a:gs>
        </a:gsLst>
        <a:lin ang="5400000" scaled="1"/>
      </a:gradFill>
      <a:effectLst>
        <a:outerShdw blurRad="76200" dir="18900000" sy="23000" kx="-1200000" algn="bl" rotWithShape="0">
          <a:prstClr val="black">
            <a:alpha val="20000"/>
          </a:prstClr>
        </a:outerShdw>
      </a:effectLst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65000"/>
        <a:lumOff val="35000"/>
      </a:schemeClr>
    </cs:fontRef>
    <cs:spPr>
      <a:ln w="9525">
        <a:solidFill>
          <a:schemeClr val="dk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35000"/>
          <a:lumOff val="65000"/>
        </a:schemeClr>
      </a:solidFill>
      <a:ln w="9525">
        <a:solidFill>
          <a:schemeClr val="dk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dk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</a:ln>
    </cs:spPr>
  </cs:leaderLine>
  <cs:legend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dk1"/>
    </cs:fontRef>
  </cs:plotArea>
  <cs:plotArea3D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seriesLine>
  <cs:title>
    <cs:lnRef idx="0"/>
    <cs:fillRef idx="0"/>
    <cs:effectRef idx="0"/>
    <cs:fontRef idx="minor">
      <a:schemeClr val="dk1">
        <a:lumMod val="65000"/>
        <a:lumOff val="35000"/>
      </a:schemeClr>
    </cs:fontRef>
    <cs:defRPr kern="1200">
      <a:effectLst/>
    </cs:defRPr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>
          <a:lumMod val="95000"/>
        </a:schemeClr>
      </a:solidFill>
      <a:ln w="9525">
        <a:solidFill>
          <a:schemeClr val="dk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7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BAA7D-9247-4676-B727-D9ED9C8D9CC2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EC771-7FA7-46CC-AD6A-9392AB80459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62797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BAA7D-9247-4676-B727-D9ED9C8D9CC2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EC771-7FA7-46CC-AD6A-9392AB80459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96369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BAA7D-9247-4676-B727-D9ED9C8D9CC2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EC771-7FA7-46CC-AD6A-9392AB80459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427028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BAA7D-9247-4676-B727-D9ED9C8D9CC2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EC771-7FA7-46CC-AD6A-9392AB80459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01893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BAA7D-9247-4676-B727-D9ED9C8D9CC2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EC771-7FA7-46CC-AD6A-9392AB80459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64599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BAA7D-9247-4676-B727-D9ED9C8D9CC2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EC771-7FA7-46CC-AD6A-9392AB80459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287651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BAA7D-9247-4676-B727-D9ED9C8D9CC2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EC771-7FA7-46CC-AD6A-9392AB80459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24952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BAA7D-9247-4676-B727-D9ED9C8D9CC2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EC771-7FA7-46CC-AD6A-9392AB80459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36057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BAA7D-9247-4676-B727-D9ED9C8D9CC2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EC771-7FA7-46CC-AD6A-9392AB80459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10102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BAA7D-9247-4676-B727-D9ED9C8D9CC2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EC771-7FA7-46CC-AD6A-9392AB80459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182784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BAA7D-9247-4676-B727-D9ED9C8D9CC2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EC771-7FA7-46CC-AD6A-9392AB80459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68856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BAA7D-9247-4676-B727-D9ED9C8D9CC2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EC771-7FA7-46CC-AD6A-9392AB804595}" type="slidenum">
              <a:rPr lang="en-IN" smtClean="0"/>
              <a:t>‹#›</a:t>
            </a:fld>
            <a:endParaRPr lang="en-IN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1327288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BAA7D-9247-4676-B727-D9ED9C8D9CC2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EC771-7FA7-46CC-AD6A-9392AB80459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951549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BAA7D-9247-4676-B727-D9ED9C8D9CC2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EC771-7FA7-46CC-AD6A-9392AB80459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386620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BAA7D-9247-4676-B727-D9ED9C8D9CC2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EC771-7FA7-46CC-AD6A-9392AB80459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534176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BAA7D-9247-4676-B727-D9ED9C8D9CC2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EC771-7FA7-46CC-AD6A-9392AB80459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359753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BAA7D-9247-4676-B727-D9ED9C8D9CC2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EC771-7FA7-46CC-AD6A-9392AB80459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424466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991BAA7D-9247-4676-B727-D9ED9C8D9CC2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E9FEC771-7FA7-46CC-AD6A-9392AB80459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5143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4.mp4"/><Relationship Id="rId1" Type="http://schemas.microsoft.com/office/2007/relationships/media" Target="../media/media4.mp4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5.mp4"/><Relationship Id="rId1" Type="http://schemas.microsoft.com/office/2007/relationships/media" Target="../media/media5.mp4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6.mp4"/><Relationship Id="rId1" Type="http://schemas.microsoft.com/office/2007/relationships/media" Target="../media/media6.mp4"/><Relationship Id="rId4" Type="http://schemas.openxmlformats.org/officeDocument/2006/relationships/image" Target="../media/image14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F9D54-68EB-8873-C8A0-CAE7009079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51012" y="179883"/>
            <a:ext cx="8689976" cy="3630116"/>
          </a:xfrm>
        </p:spPr>
        <p:txBody>
          <a:bodyPr>
            <a:normAutofit/>
          </a:bodyPr>
          <a:lstStyle/>
          <a:p>
            <a:r>
              <a:rPr lang="en-US" sz="4400" b="1" dirty="0">
                <a:latin typeface="Cooper Black" panose="0208090404030B020404" pitchFamily="18" charset="0"/>
              </a:rPr>
              <a:t>BMW GLOBAL SALES &amp; MARKET TRENDS </a:t>
            </a:r>
            <a:br>
              <a:rPr lang="en-US" sz="4400" b="1" dirty="0">
                <a:latin typeface="Cooper Black" panose="0208090404030B020404" pitchFamily="18" charset="0"/>
              </a:rPr>
            </a:br>
            <a:br>
              <a:rPr lang="en-US" sz="4400" b="1" dirty="0">
                <a:latin typeface="Cooper Black" panose="0208090404030B020404" pitchFamily="18" charset="0"/>
              </a:rPr>
            </a:br>
            <a:r>
              <a:rPr lang="en-US" sz="3200" b="1" dirty="0">
                <a:latin typeface="Cooper Black" panose="0208090404030B020404" pitchFamily="18" charset="0"/>
              </a:rPr>
              <a:t> “The Drive That Never Stops”</a:t>
            </a:r>
            <a:endParaRPr lang="en-IN" sz="4400" b="1" dirty="0">
              <a:latin typeface="Cooper Black" panose="0208090404030B0204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51B51D-ADE8-62C1-1FA3-70AC33ED90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81385" y="4257207"/>
            <a:ext cx="9146837" cy="2184815"/>
          </a:xfrm>
        </p:spPr>
        <p:txBody>
          <a:bodyPr>
            <a:normAutofit/>
          </a:bodyPr>
          <a:lstStyle/>
          <a:p>
            <a:pPr algn="r"/>
            <a:r>
              <a:rPr lang="en-US" sz="2800" b="1" cap="none" dirty="0">
                <a:solidFill>
                  <a:schemeClr val="tx1"/>
                </a:solidFill>
              </a:rPr>
              <a:t>Presented by ,</a:t>
            </a:r>
          </a:p>
          <a:p>
            <a:pPr algn="r"/>
            <a:r>
              <a:rPr lang="en-US" sz="2800" b="1" cap="none" dirty="0">
                <a:solidFill>
                  <a:schemeClr val="tx1"/>
                </a:solidFill>
              </a:rPr>
              <a:t>Mrs. Sivadurga K</a:t>
            </a:r>
          </a:p>
          <a:p>
            <a:pPr algn="r"/>
            <a:r>
              <a:rPr lang="en-US" sz="2800" b="1" cap="none" dirty="0">
                <a:solidFill>
                  <a:schemeClr val="tx1"/>
                </a:solidFill>
              </a:rPr>
              <a:t>Group 11.</a:t>
            </a:r>
            <a:endParaRPr lang="en-IN" sz="2800" b="1" cap="none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72636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AE0D42-3FBA-166E-B322-7BD22823D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solidFill>
                  <a:srgbClr val="800080"/>
                </a:solidFill>
              </a:rPr>
              <a:t>Over all analysis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001A8F-A4DB-881F-6321-17684B5F39B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IN" sz="3600" kern="100" cap="none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2008-2010 financial crisis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sz="3600" kern="100" cap="none" dirty="0"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Growing </a:t>
            </a:r>
            <a:r>
              <a:rPr lang="en-IN" sz="3600" kern="100" cap="none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interest in electric vehicles (EVs) 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3600" cap="none" dirty="0">
                <a:latin typeface="Times New Roman" panose="02020603050405020304" pitchFamily="18" charset="0"/>
                <a:ea typeface="Aptos" panose="020B0004020202020204" pitchFamily="34" charset="0"/>
              </a:rPr>
              <a:t>C</a:t>
            </a:r>
            <a:r>
              <a:rPr lang="en-US" sz="3600" cap="none" dirty="0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lassics series: 3 series and 5 series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3600" kern="100" cap="none" dirty="0"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Launch of i3 and i8</a:t>
            </a:r>
          </a:p>
          <a:p>
            <a:endParaRPr lang="en-IN" sz="2200" kern="100" cap="none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en-IN" sz="2200" dirty="0"/>
          </a:p>
        </p:txBody>
      </p:sp>
    </p:spTree>
    <p:extLst>
      <p:ext uri="{BB962C8B-B14F-4D97-AF65-F5344CB8AC3E}">
        <p14:creationId xmlns:p14="http://schemas.microsoft.com/office/powerpoint/2010/main" val="2918946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5CB40-BFD2-6BD9-9A31-1235755783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2008-2010 financial crisis</a:t>
            </a:r>
            <a:br>
              <a:rPr lang="en-IN" dirty="0"/>
            </a:br>
            <a:endParaRPr lang="en-IN" dirty="0"/>
          </a:p>
        </p:txBody>
      </p:sp>
      <p:pic>
        <p:nvPicPr>
          <p:cNvPr id="4" name="animated">
            <a:hlinkClick r:id="" action="ppaction://media"/>
            <a:extLst>
              <a:ext uri="{FF2B5EF4-FFF2-40B4-BE49-F238E27FC236}">
                <a16:creationId xmlns:a16="http://schemas.microsoft.com/office/drawing/2014/main" id="{073A34A1-3137-BE50-7F67-CD25522F5A7D}"/>
              </a:ext>
            </a:extLst>
          </p:cNvPr>
          <p:cNvPicPr>
            <a:picLocks noGrp="1" noChangeAspect="1"/>
          </p:cNvPicPr>
          <p:nvPr>
            <p:ph sz="quarter" idx="13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48826" y="1740893"/>
            <a:ext cx="5182225" cy="4377128"/>
          </a:xfrm>
        </p:spPr>
      </p:pic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4139AD2B-FDEE-D4BC-956F-D0893E3252D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005" t="22807" r="34695" b="15468"/>
          <a:stretch/>
        </p:blipFill>
        <p:spPr>
          <a:xfrm>
            <a:off x="5776327" y="1740893"/>
            <a:ext cx="5501898" cy="4377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066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8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6087E-976A-E262-2B8F-606499F3F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800080"/>
                </a:solidFill>
              </a:rPr>
              <a:t>BMW stepping on the accelerator</a:t>
            </a:r>
            <a:endParaRPr lang="en-IN" dirty="0">
              <a:solidFill>
                <a:srgbClr val="800080"/>
              </a:solidFill>
            </a:endParaRPr>
          </a:p>
        </p:txBody>
      </p:sp>
      <p:pic>
        <p:nvPicPr>
          <p:cNvPr id="4" name="WhatsApp Video 2025-11-04 at 15.27.00_93dd8b45">
            <a:hlinkClick r:id="" action="ppaction://media"/>
            <a:extLst>
              <a:ext uri="{FF2B5EF4-FFF2-40B4-BE49-F238E27FC236}">
                <a16:creationId xmlns:a16="http://schemas.microsoft.com/office/drawing/2014/main" id="{A8776509-DFAE-CBE8-ED82-EBB316259A99}"/>
              </a:ext>
            </a:extLst>
          </p:cNvPr>
          <p:cNvPicPr>
            <a:picLocks noGrp="1" noChangeAspect="1"/>
          </p:cNvPicPr>
          <p:nvPr>
            <p:ph sz="quarter" idx="13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78832" y="1887276"/>
            <a:ext cx="8634335" cy="4468553"/>
          </a:xfrm>
        </p:spPr>
      </p:pic>
    </p:spTree>
    <p:extLst>
      <p:ext uri="{BB962C8B-B14F-4D97-AF65-F5344CB8AC3E}">
        <p14:creationId xmlns:p14="http://schemas.microsoft.com/office/powerpoint/2010/main" val="3221479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36F2878-6CC1-BE17-E17E-B06D177A3403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400865279"/>
              </p:ext>
            </p:extLst>
          </p:nvPr>
        </p:nvGraphicFramePr>
        <p:xfrm>
          <a:off x="914400" y="839449"/>
          <a:ext cx="10363200" cy="495175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7953342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926AC-B549-30D7-93E0-915B799D1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3100" b="1" cap="none" dirty="0">
                <a:solidFill>
                  <a:srgbClr val="800080"/>
                </a:solidFill>
              </a:rPr>
              <a:t>Yearly drops: </a:t>
            </a:r>
            <a:r>
              <a:rPr lang="en-US" sz="3100" cap="none" dirty="0">
                <a:solidFill>
                  <a:srgbClr val="800080"/>
                </a:solidFill>
              </a:rPr>
              <a:t>2018–2020 and 2023 Drop</a:t>
            </a:r>
            <a:br>
              <a:rPr lang="en-US" sz="3100" cap="none" dirty="0">
                <a:solidFill>
                  <a:srgbClr val="800080"/>
                </a:solidFill>
              </a:rPr>
            </a:br>
            <a:br>
              <a:rPr lang="en-US" sz="3100" cap="none" dirty="0">
                <a:solidFill>
                  <a:srgbClr val="800080"/>
                </a:solidFill>
              </a:rPr>
            </a:br>
            <a:r>
              <a:rPr lang="en-US" sz="3100" b="1" cap="none" dirty="0">
                <a:solidFill>
                  <a:srgbClr val="800080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Major growth periods</a:t>
            </a:r>
            <a:r>
              <a:rPr lang="en-US" sz="3100" cap="none" dirty="0">
                <a:solidFill>
                  <a:srgbClr val="800080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: </a:t>
            </a:r>
            <a:r>
              <a:rPr lang="en-US" sz="3100" b="1" dirty="0">
                <a:solidFill>
                  <a:srgbClr val="800080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2019</a:t>
            </a:r>
            <a:r>
              <a:rPr lang="en-US" sz="3100" dirty="0">
                <a:solidFill>
                  <a:srgbClr val="800080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, </a:t>
            </a:r>
            <a:r>
              <a:rPr lang="en-US" sz="3100" b="1" dirty="0">
                <a:solidFill>
                  <a:srgbClr val="800080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2021,2022</a:t>
            </a:r>
            <a:r>
              <a:rPr lang="en-US" sz="3100" dirty="0">
                <a:solidFill>
                  <a:srgbClr val="800080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, and </a:t>
            </a:r>
            <a:r>
              <a:rPr lang="en-US" sz="3100" b="1" dirty="0">
                <a:solidFill>
                  <a:srgbClr val="800080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2024</a:t>
            </a:r>
            <a:br>
              <a:rPr lang="en-US" sz="3600" cap="none" dirty="0">
                <a:solidFill>
                  <a:srgbClr val="800080"/>
                </a:solidFill>
              </a:rPr>
            </a:br>
            <a:br>
              <a:rPr lang="en-US" sz="3600" cap="none" dirty="0">
                <a:solidFill>
                  <a:srgbClr val="800080"/>
                </a:solidFill>
              </a:rPr>
            </a:br>
            <a:br>
              <a:rPr lang="en-US" sz="3600" cap="none" dirty="0">
                <a:solidFill>
                  <a:srgbClr val="800080"/>
                </a:solidFill>
              </a:rPr>
            </a:br>
            <a:endParaRPr lang="en-IN" dirty="0">
              <a:solidFill>
                <a:srgbClr val="800080"/>
              </a:solidFill>
            </a:endParaRPr>
          </a:p>
        </p:txBody>
      </p:sp>
      <p:graphicFrame>
        <p:nvGraphicFramePr>
          <p:cNvPr id="4" name="Content Placeholder 4">
            <a:extLst>
              <a:ext uri="{FF2B5EF4-FFF2-40B4-BE49-F238E27FC236}">
                <a16:creationId xmlns:a16="http://schemas.microsoft.com/office/drawing/2014/main" id="{086BB074-28DE-B35C-DAE3-D952B159AE12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4096914386"/>
              </p:ext>
            </p:extLst>
          </p:nvPr>
        </p:nvGraphicFramePr>
        <p:xfrm>
          <a:off x="914400" y="2038663"/>
          <a:ext cx="10363200" cy="44071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6622544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185A1-8054-6553-4094-4F02DB75F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149" y="0"/>
            <a:ext cx="10364451" cy="1596177"/>
          </a:xfrm>
        </p:spPr>
        <p:txBody>
          <a:bodyPr/>
          <a:lstStyle/>
          <a:p>
            <a:r>
              <a:rPr lang="en-IN" b="1" dirty="0">
                <a:solidFill>
                  <a:srgbClr val="800080"/>
                </a:solidFill>
              </a:rPr>
              <a:t>key insights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792E6E-AE27-8C55-53C9-A51C68637F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176452"/>
            <a:ext cx="10363826" cy="4766873"/>
          </a:xfrm>
        </p:spPr>
        <p:txBody>
          <a:bodyPr>
            <a:noAutofit/>
          </a:bodyPr>
          <a:lstStyle/>
          <a:p>
            <a:pPr marL="0" indent="0">
              <a:lnSpc>
                <a:spcPct val="200000"/>
              </a:lnSpc>
              <a:buNone/>
            </a:pPr>
            <a:r>
              <a:rPr lang="en-US" sz="2400" b="1" cap="none" dirty="0"/>
              <a:t>Income generation high end model: </a:t>
            </a:r>
            <a:r>
              <a:rPr lang="en-US" sz="2400" cap="none" dirty="0"/>
              <a:t>7 series</a:t>
            </a:r>
          </a:p>
          <a:p>
            <a:pPr marL="0" indent="0">
              <a:lnSpc>
                <a:spcPct val="200000"/>
              </a:lnSpc>
              <a:buNone/>
            </a:pPr>
            <a:r>
              <a:rPr lang="en-US" sz="2400" b="1" cap="none" dirty="0"/>
              <a:t>Seasonal pattern : </a:t>
            </a:r>
            <a:r>
              <a:rPr lang="en-US" sz="2400" cap="none" dirty="0"/>
              <a:t>Peaking in September and dropping in December</a:t>
            </a:r>
          </a:p>
          <a:p>
            <a:pPr marL="0" indent="0">
              <a:lnSpc>
                <a:spcPct val="200000"/>
              </a:lnSpc>
              <a:buNone/>
            </a:pPr>
            <a:r>
              <a:rPr lang="en-US" sz="2400" b="1" cap="none" dirty="0"/>
              <a:t>Customer preferences:</a:t>
            </a:r>
            <a:r>
              <a:rPr lang="en-US" sz="2400" cap="none" dirty="0"/>
              <a:t> Manual cars and the color </a:t>
            </a:r>
            <a:r>
              <a:rPr lang="en-US" sz="2400" cap="none" dirty="0">
                <a:solidFill>
                  <a:srgbClr val="FF0000"/>
                </a:solidFill>
              </a:rPr>
              <a:t>Red</a:t>
            </a:r>
          </a:p>
          <a:p>
            <a:pPr marL="0" indent="0" algn="ctr">
              <a:lnSpc>
                <a:spcPct val="200000"/>
              </a:lnSpc>
              <a:buNone/>
            </a:pPr>
            <a:r>
              <a:rPr lang="en-US" sz="2400" b="1" cap="none" dirty="0"/>
              <a:t>Yearly sales trends</a:t>
            </a:r>
          </a:p>
          <a:p>
            <a:pPr marL="0" indent="0">
              <a:lnSpc>
                <a:spcPct val="200000"/>
              </a:lnSpc>
              <a:buNone/>
            </a:pPr>
            <a:r>
              <a:rPr lang="en-US" sz="2400" b="1" cap="none" dirty="0"/>
              <a:t>Yearly drops: </a:t>
            </a:r>
            <a:r>
              <a:rPr lang="en-US" sz="2400" cap="none" dirty="0"/>
              <a:t>2018–2020 and 2023 Drop</a:t>
            </a:r>
          </a:p>
          <a:p>
            <a:pPr marL="0" indent="0">
              <a:lnSpc>
                <a:spcPct val="200000"/>
              </a:lnSpc>
              <a:buNone/>
            </a:pPr>
            <a:r>
              <a:rPr lang="en-US" sz="2400" b="1" cap="none" dirty="0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Major growth periods</a:t>
            </a:r>
            <a:r>
              <a:rPr lang="en-US" sz="2400" cap="none" dirty="0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: </a:t>
            </a:r>
            <a:r>
              <a:rPr lang="en-US" sz="2400" b="1" dirty="0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2019</a:t>
            </a:r>
            <a:r>
              <a:rPr lang="en-US" sz="2400" dirty="0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, </a:t>
            </a:r>
            <a:r>
              <a:rPr lang="en-US" sz="2400" b="1" dirty="0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2021,2022</a:t>
            </a:r>
            <a:r>
              <a:rPr lang="en-US" sz="2400" dirty="0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, and </a:t>
            </a:r>
            <a:r>
              <a:rPr lang="en-US" sz="2400" b="1" dirty="0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2024</a:t>
            </a:r>
            <a:endParaRPr lang="en-US" sz="2400" cap="none" dirty="0"/>
          </a:p>
        </p:txBody>
      </p:sp>
    </p:spTree>
    <p:extLst>
      <p:ext uri="{BB962C8B-B14F-4D97-AF65-F5344CB8AC3E}">
        <p14:creationId xmlns:p14="http://schemas.microsoft.com/office/powerpoint/2010/main" val="37794490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C4412-B2FC-AE58-623B-371C93BD1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b="1" cap="none" dirty="0">
                <a:solidFill>
                  <a:srgbClr val="800080"/>
                </a:solidFill>
              </a:rPr>
              <a:t>Income generation high end model: 7 series</a:t>
            </a:r>
            <a:br>
              <a:rPr lang="en-US" sz="3600" cap="none" dirty="0"/>
            </a:br>
            <a:endParaRPr lang="en-IN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4122C5D-4148-C94D-8095-D2C32D45D1C4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2479675653"/>
              </p:ext>
            </p:extLst>
          </p:nvPr>
        </p:nvGraphicFramePr>
        <p:xfrm>
          <a:off x="914400" y="2366963"/>
          <a:ext cx="10363200" cy="34242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620044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52E358-EC3E-C83D-0D1A-F97369FB5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b="1" cap="none" dirty="0">
                <a:solidFill>
                  <a:srgbClr val="800080"/>
                </a:solidFill>
              </a:rPr>
              <a:t>Seasonal pattern : </a:t>
            </a:r>
            <a:r>
              <a:rPr lang="en-US" sz="3600" cap="none" dirty="0">
                <a:solidFill>
                  <a:srgbClr val="800080"/>
                </a:solidFill>
              </a:rPr>
              <a:t>Peaking in September and dropping in December</a:t>
            </a:r>
            <a:br>
              <a:rPr lang="en-US" sz="3600" cap="none" dirty="0">
                <a:solidFill>
                  <a:srgbClr val="800080"/>
                </a:solidFill>
              </a:rPr>
            </a:br>
            <a:endParaRPr lang="en-IN" dirty="0">
              <a:solidFill>
                <a:srgbClr val="800080"/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23D46D6-88B0-574E-FD30-A7F12F03135B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2256067082"/>
              </p:ext>
            </p:extLst>
          </p:nvPr>
        </p:nvGraphicFramePr>
        <p:xfrm>
          <a:off x="914400" y="2366963"/>
          <a:ext cx="10363200" cy="34242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7254568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5000">
              <a:schemeClr val="bg1">
                <a:lumMod val="95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ECE11-F8FF-8DEB-3C50-030889FF1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b="1" cap="none" dirty="0">
                <a:solidFill>
                  <a:srgbClr val="800080"/>
                </a:solidFill>
              </a:rPr>
              <a:t>Customer preferences:</a:t>
            </a:r>
            <a:r>
              <a:rPr lang="en-US" sz="3600" cap="none" dirty="0">
                <a:solidFill>
                  <a:srgbClr val="800080"/>
                </a:solidFill>
              </a:rPr>
              <a:t> Manual cars and the color </a:t>
            </a:r>
            <a:r>
              <a:rPr lang="en-US" sz="3600" cap="none" dirty="0">
                <a:solidFill>
                  <a:srgbClr val="FF0000"/>
                </a:solidFill>
              </a:rPr>
              <a:t>Red</a:t>
            </a:r>
            <a:br>
              <a:rPr lang="en-US" sz="3600" cap="none" dirty="0">
                <a:solidFill>
                  <a:srgbClr val="FF0000"/>
                </a:solidFill>
              </a:rPr>
            </a:br>
            <a:endParaRPr lang="en-IN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C993ED5-24D2-410D-E856-BD1649F738A1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40631509"/>
              </p:ext>
            </p:extLst>
          </p:nvPr>
        </p:nvGraphicFramePr>
        <p:xfrm>
          <a:off x="434713" y="2426924"/>
          <a:ext cx="6610665" cy="36590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F2C681EB-D491-468F-9934-750B8E93FDA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67005688"/>
              </p:ext>
            </p:extLst>
          </p:nvPr>
        </p:nvGraphicFramePr>
        <p:xfrm>
          <a:off x="7045378" y="2098623"/>
          <a:ext cx="4976733" cy="39873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9264910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70">
          <a:fgClr>
            <a:schemeClr val="accent1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D23AB-9DBE-A1FB-8D0C-64ED6A86B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colour demand </a:t>
            </a:r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EC993ED5-24D2-410D-E856-BD1649F738A1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54543687"/>
              </p:ext>
            </p:extLst>
          </p:nvPr>
        </p:nvGraphicFramePr>
        <p:xfrm>
          <a:off x="914400" y="2366963"/>
          <a:ext cx="10363200" cy="34242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2514671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AFB88-A140-F81F-AFFC-65A79F98D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120769"/>
            <a:ext cx="10364451" cy="1596177"/>
          </a:xfrm>
        </p:spPr>
        <p:txBody>
          <a:bodyPr/>
          <a:lstStyle/>
          <a:p>
            <a:r>
              <a:rPr lang="en-IN" b="1" dirty="0">
                <a:solidFill>
                  <a:srgbClr val="800080"/>
                </a:solidFill>
              </a:rPr>
              <a:t>BMW's Roadblocks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AD0490-AA64-9708-6C9F-B86896A264F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22270"/>
            <a:ext cx="10363826" cy="3424107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US" sz="2800" b="1" u="sng" cap="none" dirty="0"/>
              <a:t>Steep fall in 2018 - 2020 and 2023 </a:t>
            </a:r>
          </a:p>
          <a:p>
            <a:pPr marL="0" indent="0" algn="ctr">
              <a:buNone/>
            </a:pPr>
            <a:endParaRPr lang="en-US" sz="2800" b="1" u="sng" cap="none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F97E5E6-7735-E20C-A9D0-3E045A9C5E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959" t="59142" r="43854" b="9776"/>
          <a:stretch/>
        </p:blipFill>
        <p:spPr>
          <a:xfrm>
            <a:off x="733893" y="2263515"/>
            <a:ext cx="11078356" cy="4167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8608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0D6DD8-88A9-2CB6-7CC2-8CBA281E7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4" y="172663"/>
            <a:ext cx="10364451" cy="1596177"/>
          </a:xfrm>
        </p:spPr>
        <p:txBody>
          <a:bodyPr/>
          <a:lstStyle/>
          <a:p>
            <a:r>
              <a:rPr lang="en-IN" sz="3600" b="1" cap="none" dirty="0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Supplier part shortages </a:t>
            </a:r>
            <a:r>
              <a:rPr lang="en-IN" sz="3600" cap="none" dirty="0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in earlier years (2017)</a:t>
            </a:r>
            <a:br>
              <a:rPr lang="en-IN" sz="3600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3841A5-EFA1-DACA-B9DF-D4DCE880F0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768840"/>
            <a:ext cx="10363826" cy="4022360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endParaRPr lang="en-IN" sz="2000" kern="100" cap="none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IN" sz="2000" kern="100" cap="none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en-IN" dirty="0"/>
          </a:p>
        </p:txBody>
      </p:sp>
      <p:pic>
        <p:nvPicPr>
          <p:cNvPr id="5" name="Picture 4" descr="A screenshot of a cellphone&#10;&#10;AI-generated content may be incorrect.">
            <a:extLst>
              <a:ext uri="{FF2B5EF4-FFF2-40B4-BE49-F238E27FC236}">
                <a16:creationId xmlns:a16="http://schemas.microsoft.com/office/drawing/2014/main" id="{2E8E4748-0DF6-56B9-3F76-45FAE18ED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9056" y="1439056"/>
            <a:ext cx="8994098" cy="5418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8377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AC1FB-F5A4-B7EB-5717-A8C972C78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4" y="306149"/>
            <a:ext cx="10364451" cy="2019822"/>
          </a:xfrm>
        </p:spPr>
        <p:txBody>
          <a:bodyPr>
            <a:normAutofit fontScale="90000"/>
          </a:bodyPr>
          <a:lstStyle/>
          <a:p>
            <a:r>
              <a:rPr lang="en-IN" sz="3600" b="1" kern="100" cap="none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China lockdowns(First half of 2022)</a:t>
            </a:r>
            <a:br>
              <a:rPr lang="en-IN" sz="3600" b="1" kern="100" cap="none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</a:br>
            <a:br>
              <a:rPr lang="en-IN" sz="3600" b="1" kern="100" cap="none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</a:br>
            <a:r>
              <a:rPr lang="en-IN" sz="3600" kern="100" cap="none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13.4% drop in global deliveries for the first six months of 2022</a:t>
            </a:r>
            <a:br>
              <a:rPr lang="en-IN" sz="3600" kern="100" cap="none" dirty="0"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</a:br>
            <a:endParaRPr lang="en-IN" dirty="0"/>
          </a:p>
        </p:txBody>
      </p:sp>
      <p:pic>
        <p:nvPicPr>
          <p:cNvPr id="8" name="WhatsApp Video 2025-11-04 at 15.49.38_038ebd81">
            <a:hlinkClick r:id="" action="ppaction://media"/>
            <a:extLst>
              <a:ext uri="{FF2B5EF4-FFF2-40B4-BE49-F238E27FC236}">
                <a16:creationId xmlns:a16="http://schemas.microsoft.com/office/drawing/2014/main" id="{553B7ABD-05BF-DC8B-7C75-CF6FF585F6B7}"/>
              </a:ext>
            </a:extLst>
          </p:cNvPr>
          <p:cNvPicPr>
            <a:picLocks noGrp="1" noChangeAspect="1"/>
          </p:cNvPicPr>
          <p:nvPr>
            <p:ph sz="quarter" idx="13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113613" y="2325971"/>
            <a:ext cx="8259580" cy="3490213"/>
          </a:xfrm>
        </p:spPr>
      </p:pic>
    </p:spTree>
    <p:extLst>
      <p:ext uri="{BB962C8B-B14F-4D97-AF65-F5344CB8AC3E}">
        <p14:creationId xmlns:p14="http://schemas.microsoft.com/office/powerpoint/2010/main" val="4031779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000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000"/>
                            </p:stCondLst>
                            <p:childTnLst>
                              <p:par>
                                <p:cTn id="8" presetID="2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9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0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A0C367-5485-FF90-6697-C872AFC0A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Breaking system issues (2022-23)</a:t>
            </a:r>
            <a:br>
              <a:rPr lang="en-IN" dirty="0"/>
            </a:br>
            <a:endParaRPr lang="en-IN" dirty="0"/>
          </a:p>
        </p:txBody>
      </p:sp>
      <p:pic>
        <p:nvPicPr>
          <p:cNvPr id="5" name="Content Placeholder 4" descr="A car with a steering wheel&#10;&#10;AI-generated content may be incorrect.">
            <a:extLst>
              <a:ext uri="{FF2B5EF4-FFF2-40B4-BE49-F238E27FC236}">
                <a16:creationId xmlns:a16="http://schemas.microsoft.com/office/drawing/2014/main" id="{B5B07B7B-7ADC-D2A7-F989-53B3294B3C62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093" y="1918741"/>
            <a:ext cx="6115986" cy="4017364"/>
          </a:xfrm>
        </p:spPr>
      </p:pic>
    </p:spTree>
    <p:extLst>
      <p:ext uri="{BB962C8B-B14F-4D97-AF65-F5344CB8AC3E}">
        <p14:creationId xmlns:p14="http://schemas.microsoft.com/office/powerpoint/2010/main" val="15091639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63B00-821F-D736-9D6C-F0EFFD10C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>
              <a:solidFill>
                <a:srgbClr val="80008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D6E85D-6BB0-70CD-02E4-496909CE05C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87239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4400" dirty="0">
                <a:solidFill>
                  <a:srgbClr val="800080"/>
                </a:solidFill>
              </a:rPr>
              <a:t>Preventive measures to overcome the challenges</a:t>
            </a:r>
            <a:endParaRPr lang="en-IN" sz="2800" b="1" kern="100" cap="none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51330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36A38-54BD-BAC8-4B44-7A9C7C52B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Diversifying suppliers</a:t>
            </a:r>
            <a:br>
              <a:rPr lang="en-IN" dirty="0"/>
            </a:br>
            <a:endParaRPr lang="en-IN" dirty="0"/>
          </a:p>
        </p:txBody>
      </p:sp>
      <p:pic>
        <p:nvPicPr>
          <p:cNvPr id="4" name="WhatsApp Video 2025-11-04 at 16.25.14_9378413b">
            <a:hlinkClick r:id="" action="ppaction://media"/>
            <a:extLst>
              <a:ext uri="{FF2B5EF4-FFF2-40B4-BE49-F238E27FC236}">
                <a16:creationId xmlns:a16="http://schemas.microsoft.com/office/drawing/2014/main" id="{388EB13E-135A-E8C2-FE82-DE46EB15CF9F}"/>
              </a:ext>
            </a:extLst>
          </p:cNvPr>
          <p:cNvPicPr>
            <a:picLocks noGrp="1" noChangeAspect="1"/>
          </p:cNvPicPr>
          <p:nvPr>
            <p:ph sz="quarter" idx="13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218546" y="1708706"/>
            <a:ext cx="8004746" cy="4616970"/>
          </a:xfrm>
        </p:spPr>
      </p:pic>
    </p:spTree>
    <p:extLst>
      <p:ext uri="{BB962C8B-B14F-4D97-AF65-F5344CB8AC3E}">
        <p14:creationId xmlns:p14="http://schemas.microsoft.com/office/powerpoint/2010/main" val="25226805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96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4C92C-00F5-F145-9D1D-6C50994F6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Adapting to market challenges</a:t>
            </a:r>
            <a:br>
              <a:rPr lang="en-IN" dirty="0"/>
            </a:br>
            <a:endParaRPr lang="en-IN" dirty="0"/>
          </a:p>
        </p:txBody>
      </p:sp>
      <p:pic>
        <p:nvPicPr>
          <p:cNvPr id="4" name="WhatsApp Video 2025-11-04 at 16.30.38_e4cce0b8">
            <a:hlinkClick r:id="" action="ppaction://media"/>
            <a:extLst>
              <a:ext uri="{FF2B5EF4-FFF2-40B4-BE49-F238E27FC236}">
                <a16:creationId xmlns:a16="http://schemas.microsoft.com/office/drawing/2014/main" id="{7B0901D8-004F-B9A4-4C75-E784E2E4C026}"/>
              </a:ext>
            </a:extLst>
          </p:cNvPr>
          <p:cNvPicPr>
            <a:picLocks noGrp="1" noChangeAspect="1"/>
          </p:cNvPicPr>
          <p:nvPr>
            <p:ph sz="quarter" idx="13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353456" y="1753849"/>
            <a:ext cx="7525062" cy="4485634"/>
          </a:xfrm>
        </p:spPr>
      </p:pic>
    </p:spTree>
    <p:extLst>
      <p:ext uri="{BB962C8B-B14F-4D97-AF65-F5344CB8AC3E}">
        <p14:creationId xmlns:p14="http://schemas.microsoft.com/office/powerpoint/2010/main" val="4118227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B82DA-2EC1-4E78-2686-559BA3311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Product flexibility</a:t>
            </a:r>
            <a:br>
              <a:rPr lang="en-IN" dirty="0"/>
            </a:br>
            <a:endParaRPr lang="en-IN" dirty="0"/>
          </a:p>
        </p:txBody>
      </p:sp>
      <p:pic>
        <p:nvPicPr>
          <p:cNvPr id="5" name="Content Placeholder 4" descr="A close-up of a machine&#10;&#10;AI-generated content may be incorrect.">
            <a:extLst>
              <a:ext uri="{FF2B5EF4-FFF2-40B4-BE49-F238E27FC236}">
                <a16:creationId xmlns:a16="http://schemas.microsoft.com/office/drawing/2014/main" id="{07E890EA-407E-4484-3933-7D8EF178E84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3547" y="2053377"/>
            <a:ext cx="7764905" cy="4186106"/>
          </a:xfrm>
        </p:spPr>
      </p:pic>
    </p:spTree>
    <p:extLst>
      <p:ext uri="{BB962C8B-B14F-4D97-AF65-F5344CB8AC3E}">
        <p14:creationId xmlns:p14="http://schemas.microsoft.com/office/powerpoint/2010/main" val="8695592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9144F-3983-EBEF-B16C-6C323D4D7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Technological advancements</a:t>
            </a:r>
            <a:br>
              <a:rPr lang="en-IN" dirty="0"/>
            </a:br>
            <a:endParaRPr lang="en-IN" dirty="0"/>
          </a:p>
        </p:txBody>
      </p:sp>
      <p:pic>
        <p:nvPicPr>
          <p:cNvPr id="4" name="WhatsApp Video 2025-11-04 at 16.37.26_249e15ef">
            <a:hlinkClick r:id="" action="ppaction://media"/>
            <a:extLst>
              <a:ext uri="{FF2B5EF4-FFF2-40B4-BE49-F238E27FC236}">
                <a16:creationId xmlns:a16="http://schemas.microsoft.com/office/drawing/2014/main" id="{9AB63828-4D2B-C356-2FE8-40740A26C46F}"/>
              </a:ext>
            </a:extLst>
          </p:cNvPr>
          <p:cNvPicPr>
            <a:picLocks noGrp="1" noChangeAspect="1"/>
          </p:cNvPicPr>
          <p:nvPr>
            <p:ph sz="quarter" idx="13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84223" y="1963711"/>
            <a:ext cx="9458793" cy="3957404"/>
          </a:xfrm>
        </p:spPr>
      </p:pic>
    </p:spTree>
    <p:extLst>
      <p:ext uri="{BB962C8B-B14F-4D97-AF65-F5344CB8AC3E}">
        <p14:creationId xmlns:p14="http://schemas.microsoft.com/office/powerpoint/2010/main" val="3481043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57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C3546-BAC2-3614-EA20-77F8A9FA8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91230"/>
            <a:ext cx="10364451" cy="1596177"/>
          </a:xfrm>
        </p:spPr>
        <p:txBody>
          <a:bodyPr/>
          <a:lstStyle/>
          <a:p>
            <a:r>
              <a:rPr lang="en-US" dirty="0">
                <a:solidFill>
                  <a:srgbClr val="800080"/>
                </a:solidFill>
              </a:rPr>
              <a:t>RE-rise of BMW</a:t>
            </a:r>
            <a:endParaRPr lang="en-IN" dirty="0">
              <a:solidFill>
                <a:srgbClr val="80008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1887E-B668-68FC-D3CE-9DE2D481688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4399" y="1887407"/>
            <a:ext cx="10363826" cy="4348501"/>
          </a:xfrm>
        </p:spPr>
        <p:txBody>
          <a:bodyPr>
            <a:noAutofit/>
          </a:bodyPr>
          <a:lstStyle/>
          <a:p>
            <a:pPr marL="342900" lvl="0" indent="-34290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IN" sz="2400" kern="100" cap="none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Every trend, every model, and every market shift told a story of a company that refused to slow down.</a:t>
            </a:r>
            <a:endParaRPr lang="en-IN" sz="2400" kern="100" cap="none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sz="2400" kern="100" cap="none" dirty="0"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T</a:t>
            </a:r>
            <a:r>
              <a:rPr lang="en-US" sz="2400" kern="100" cap="none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he launch of the i3 and i8 manifest the beginning of BMW's electric vision.</a:t>
            </a:r>
            <a:br>
              <a:rPr lang="en-US" sz="2400" kern="100" cap="none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</a:br>
            <a:r>
              <a:rPr lang="en-US" sz="2400" kern="100" cap="none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The growth in Asia showed how the brand adapted to new markets.</a:t>
            </a:r>
            <a:br>
              <a:rPr lang="en-US" sz="2400" kern="100" cap="none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</a:br>
            <a:r>
              <a:rPr lang="en-US" sz="2400" kern="100" cap="none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And the steady sales in Europe proved that innovation never meant leaving tradition behind.</a:t>
            </a:r>
            <a:endParaRPr lang="en-IN" sz="2400" kern="100" cap="none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en-IN" sz="2200" cap="none" dirty="0"/>
          </a:p>
        </p:txBody>
      </p:sp>
    </p:spTree>
    <p:extLst>
      <p:ext uri="{BB962C8B-B14F-4D97-AF65-F5344CB8AC3E}">
        <p14:creationId xmlns:p14="http://schemas.microsoft.com/office/powerpoint/2010/main" val="867604647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Custom 1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Droplet</Template>
  <TotalTime>348</TotalTime>
  <Words>331</Words>
  <Application>Microsoft Office PowerPoint</Application>
  <PresentationFormat>Widescreen</PresentationFormat>
  <Paragraphs>44</Paragraphs>
  <Slides>21</Slides>
  <Notes>0</Notes>
  <HiddenSlides>0</HiddenSlides>
  <MMClips>6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Aptos</vt:lpstr>
      <vt:lpstr>Arial</vt:lpstr>
      <vt:lpstr>Cooper Black</vt:lpstr>
      <vt:lpstr>Times New Roman</vt:lpstr>
      <vt:lpstr>Wingdings</vt:lpstr>
      <vt:lpstr>Droplet</vt:lpstr>
      <vt:lpstr>BMW GLOBAL SALES &amp; MARKET TRENDS    “The Drive That Never Stops”</vt:lpstr>
      <vt:lpstr>Over all analysis </vt:lpstr>
      <vt:lpstr>2008-2010 financial crisis </vt:lpstr>
      <vt:lpstr>BMW stepping on the accelerator</vt:lpstr>
      <vt:lpstr>PowerPoint Presentation</vt:lpstr>
      <vt:lpstr>Yearly drops: 2018–2020 and 2023 Drop  Major growth periods: 2019, 2021,2022, and 2024   </vt:lpstr>
      <vt:lpstr>key insights </vt:lpstr>
      <vt:lpstr>Income generation high end model: 7 series </vt:lpstr>
      <vt:lpstr>Seasonal pattern : Peaking in September and dropping in December </vt:lpstr>
      <vt:lpstr>Customer preferences: Manual cars and the color Red </vt:lpstr>
      <vt:lpstr>colour demand </vt:lpstr>
      <vt:lpstr>BMW's Roadblocks</vt:lpstr>
      <vt:lpstr>Supplier part shortages in earlier years (2017) </vt:lpstr>
      <vt:lpstr>China lockdowns(First half of 2022)  13.4% drop in global deliveries for the first six months of 2022 </vt:lpstr>
      <vt:lpstr>Breaking system issues (2022-23) </vt:lpstr>
      <vt:lpstr>PowerPoint Presentation</vt:lpstr>
      <vt:lpstr>Diversifying suppliers </vt:lpstr>
      <vt:lpstr>Adapting to market challenges </vt:lpstr>
      <vt:lpstr>Product flexibility </vt:lpstr>
      <vt:lpstr>Technological advancements </vt:lpstr>
      <vt:lpstr>RE-rise of BMW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Sivadurga K</dc:creator>
  <cp:lastModifiedBy>Sivadurga K</cp:lastModifiedBy>
  <cp:revision>79</cp:revision>
  <dcterms:created xsi:type="dcterms:W3CDTF">2025-10-28T05:19:19Z</dcterms:created>
  <dcterms:modified xsi:type="dcterms:W3CDTF">2025-11-05T10:45:56Z</dcterms:modified>
</cp:coreProperties>
</file>