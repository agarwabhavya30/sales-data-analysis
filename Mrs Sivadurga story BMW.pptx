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60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zalima%20project\project%201%20sales\BMW%20sales%20project\BMW%20Sales%20trends%20final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zalima%20project\project%201%20sales\BMW%20sales%20project\BMW%20Sales%20trends%20final%20co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zalima%20project\project%201%20sales\BMW%20sales%20project\BMW%20Sales%20trends%20final%20cop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zalima%20project\project%201%20sales\BMW%20sales%20project\BMW%20Sales%20trends%20final%20cop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[BMW Sales trends final copy.xlsx] Identify best-performing model!PivotTable3</c:name>
    <c:fmtId val="5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SALES BY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 Identify best-performing model'!$B$3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 Identify best-performing model'!$A$4:$A$15</c:f>
              <c:strCache>
                <c:ptCount val="11"/>
                <c:pt idx="0">
                  <c:v>3 Series</c:v>
                </c:pt>
                <c:pt idx="1">
                  <c:v>5 Series</c:v>
                </c:pt>
                <c:pt idx="2">
                  <c:v>7 Series</c:v>
                </c:pt>
                <c:pt idx="3">
                  <c:v>i3</c:v>
                </c:pt>
                <c:pt idx="4">
                  <c:v>i8</c:v>
                </c:pt>
                <c:pt idx="5">
                  <c:v>M3</c:v>
                </c:pt>
                <c:pt idx="6">
                  <c:v>M5</c:v>
                </c:pt>
                <c:pt idx="7">
                  <c:v>X1</c:v>
                </c:pt>
                <c:pt idx="8">
                  <c:v>X3</c:v>
                </c:pt>
                <c:pt idx="9">
                  <c:v>X5</c:v>
                </c:pt>
                <c:pt idx="10">
                  <c:v>X6</c:v>
                </c:pt>
              </c:strCache>
            </c:strRef>
          </c:cat>
          <c:val>
            <c:numRef>
              <c:f>' Identify best-performing model'!$B$4:$B$15</c:f>
              <c:numCache>
                <c:formatCode>General</c:formatCode>
                <c:ptCount val="11"/>
                <c:pt idx="0">
                  <c:v>1768534028214</c:v>
                </c:pt>
                <c:pt idx="1">
                  <c:v>1735712423092</c:v>
                </c:pt>
                <c:pt idx="2">
                  <c:v>1790070249282</c:v>
                </c:pt>
                <c:pt idx="3">
                  <c:v>1724197530210</c:v>
                </c:pt>
                <c:pt idx="4">
                  <c:v>1764743448529</c:v>
                </c:pt>
                <c:pt idx="5">
                  <c:v>1667504386622</c:v>
                </c:pt>
                <c:pt idx="6">
                  <c:v>1698467355916</c:v>
                </c:pt>
                <c:pt idx="7">
                  <c:v>1752985285361</c:v>
                </c:pt>
                <c:pt idx="8">
                  <c:v>1707951188482</c:v>
                </c:pt>
                <c:pt idx="9">
                  <c:v>1708653383772</c:v>
                </c:pt>
                <c:pt idx="10">
                  <c:v>1693423254979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2D-48F6-BE2A-4CADD639C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91871775"/>
        <c:axId val="1691878975"/>
        <c:axId val="0"/>
      </c:bar3DChart>
      <c:catAx>
        <c:axId val="1691871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878975"/>
        <c:crosses val="autoZero"/>
        <c:auto val="1"/>
        <c:lblAlgn val="ctr"/>
        <c:lblOffset val="100"/>
        <c:noMultiLvlLbl val="0"/>
      </c:catAx>
      <c:valAx>
        <c:axId val="1691878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871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[BMW Sales trends final copy.xlsx]Identify peak and low sales sea!PivotTable25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Monthly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circle"/>
          <c:size val="17"/>
          <c:spPr>
            <a:solidFill>
              <a:schemeClr val="accent1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circle"/>
          <c:size val="17"/>
          <c:spPr>
            <a:solidFill>
              <a:schemeClr val="accent1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circle"/>
          <c:size val="17"/>
          <c:spPr>
            <a:solidFill>
              <a:schemeClr val="accent1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'Identify peak and low sales sea'!$B$3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63500" dist="25400" dir="5400000" algn="ctr" rotWithShape="0">
                <a:srgbClr val="000000">
                  <a:alpha val="69000"/>
                </a:srgbClr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'Identify peak and low sales sea'!$A$4:$A$16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'Identify peak and low sales sea'!$B$4:$B$16</c:f>
              <c:numCache>
                <c:formatCode>0</c:formatCode>
                <c:ptCount val="12"/>
                <c:pt idx="0">
                  <c:v>21267061</c:v>
                </c:pt>
                <c:pt idx="1">
                  <c:v>21173447</c:v>
                </c:pt>
                <c:pt idx="2">
                  <c:v>21452011</c:v>
                </c:pt>
                <c:pt idx="3">
                  <c:v>21598042</c:v>
                </c:pt>
                <c:pt idx="4">
                  <c:v>20863586</c:v>
                </c:pt>
                <c:pt idx="5">
                  <c:v>20961114</c:v>
                </c:pt>
                <c:pt idx="6">
                  <c:v>20994856</c:v>
                </c:pt>
                <c:pt idx="7">
                  <c:v>20838031</c:v>
                </c:pt>
                <c:pt idx="8">
                  <c:v>21685214</c:v>
                </c:pt>
                <c:pt idx="9">
                  <c:v>20915998</c:v>
                </c:pt>
                <c:pt idx="10">
                  <c:v>20985443</c:v>
                </c:pt>
                <c:pt idx="11">
                  <c:v>20640931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E5-4877-978A-0BAF2A2CEA4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71198624"/>
        <c:axId val="1071216384"/>
      </c:lineChart>
      <c:catAx>
        <c:axId val="107119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216384"/>
        <c:crosses val="autoZero"/>
        <c:auto val="1"/>
        <c:lblAlgn val="ctr"/>
        <c:lblOffset val="100"/>
        <c:noMultiLvlLbl val="0"/>
      </c:catAx>
      <c:valAx>
        <c:axId val="1071216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19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[BMW Sales trends final copy.xlsx]Identify top color choices per !PivotTable19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SALES VOLUME BY COLOR AND REGION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'Identify top color choices per '!$B$3:$B$4</c:f>
              <c:strCache>
                <c:ptCount val="1"/>
                <c:pt idx="0">
                  <c:v>Black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'Identify top color choices per '!$A$5:$A$11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South America</c:v>
                </c:pt>
              </c:strCache>
            </c:strRef>
          </c:cat>
          <c:val>
            <c:numRef>
              <c:f>'Identify top color choices per '!$B$5:$B$11</c:f>
              <c:numCache>
                <c:formatCode>0</c:formatCode>
                <c:ptCount val="6"/>
                <c:pt idx="0">
                  <c:v>6623881</c:v>
                </c:pt>
                <c:pt idx="1">
                  <c:v>7527330</c:v>
                </c:pt>
                <c:pt idx="2">
                  <c:v>7492658</c:v>
                </c:pt>
                <c:pt idx="3">
                  <c:v>6725246</c:v>
                </c:pt>
                <c:pt idx="4">
                  <c:v>6785909</c:v>
                </c:pt>
                <c:pt idx="5">
                  <c:v>6555669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B7-4D42-A2F8-7EDE4BA582A7}"/>
            </c:ext>
          </c:extLst>
        </c:ser>
        <c:ser>
          <c:idx val="1"/>
          <c:order val="1"/>
          <c:tx>
            <c:strRef>
              <c:f>'Identify top color choices per '!$C$3:$C$4</c:f>
              <c:strCache>
                <c:ptCount val="1"/>
                <c:pt idx="0">
                  <c:v>Blue</c:v>
                </c:pt>
              </c:strCache>
            </c:strRef>
          </c:tx>
          <c:spPr>
            <a:solidFill>
              <a:srgbClr val="0000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'Identify top color choices per '!$A$5:$A$11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South America</c:v>
                </c:pt>
              </c:strCache>
            </c:strRef>
          </c:cat>
          <c:val>
            <c:numRef>
              <c:f>'Identify top color choices per '!$C$5:$C$11</c:f>
              <c:numCache>
                <c:formatCode>0</c:formatCode>
                <c:ptCount val="6"/>
                <c:pt idx="0">
                  <c:v>6884183</c:v>
                </c:pt>
                <c:pt idx="1">
                  <c:v>7099311</c:v>
                </c:pt>
                <c:pt idx="2">
                  <c:v>7139262</c:v>
                </c:pt>
                <c:pt idx="3">
                  <c:v>6917547</c:v>
                </c:pt>
                <c:pt idx="4">
                  <c:v>6951081</c:v>
                </c:pt>
                <c:pt idx="5">
                  <c:v>6981357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B7-4D42-A2F8-7EDE4BA582A7}"/>
            </c:ext>
          </c:extLst>
        </c:ser>
        <c:ser>
          <c:idx val="2"/>
          <c:order val="2"/>
          <c:tx>
            <c:strRef>
              <c:f>'Identify top color choices per '!$D$3:$D$4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'Identify top color choices per '!$A$5:$A$11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South America</c:v>
                </c:pt>
              </c:strCache>
            </c:strRef>
          </c:cat>
          <c:val>
            <c:numRef>
              <c:f>'Identify top color choices per '!$D$5:$D$11</c:f>
              <c:numCache>
                <c:formatCode>0</c:formatCode>
                <c:ptCount val="6"/>
                <c:pt idx="0">
                  <c:v>7095931</c:v>
                </c:pt>
                <c:pt idx="1">
                  <c:v>7210612</c:v>
                </c:pt>
                <c:pt idx="2">
                  <c:v>6902592</c:v>
                </c:pt>
                <c:pt idx="3">
                  <c:v>7252107</c:v>
                </c:pt>
                <c:pt idx="4">
                  <c:v>6866998</c:v>
                </c:pt>
                <c:pt idx="5">
                  <c:v>6666901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B7-4D42-A2F8-7EDE4BA582A7}"/>
            </c:ext>
          </c:extLst>
        </c:ser>
        <c:ser>
          <c:idx val="3"/>
          <c:order val="3"/>
          <c:tx>
            <c:strRef>
              <c:f>'Identify top color choices per '!$E$3:$E$4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'Identify top color choices per '!$A$5:$A$11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South America</c:v>
                </c:pt>
              </c:strCache>
            </c:strRef>
          </c:cat>
          <c:val>
            <c:numRef>
              <c:f>'Identify top color choices per '!$E$5:$E$11</c:f>
              <c:numCache>
                <c:formatCode>0</c:formatCode>
                <c:ptCount val="6"/>
                <c:pt idx="0">
                  <c:v>6978435</c:v>
                </c:pt>
                <c:pt idx="1">
                  <c:v>7191807</c:v>
                </c:pt>
                <c:pt idx="2">
                  <c:v>6901077</c:v>
                </c:pt>
                <c:pt idx="3">
                  <c:v>7152329</c:v>
                </c:pt>
                <c:pt idx="4">
                  <c:v>7343076</c:v>
                </c:pt>
                <c:pt idx="5">
                  <c:v>7183459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B7-4D42-A2F8-7EDE4BA582A7}"/>
            </c:ext>
          </c:extLst>
        </c:ser>
        <c:ser>
          <c:idx val="4"/>
          <c:order val="4"/>
          <c:tx>
            <c:strRef>
              <c:f>'Identify top color choices per '!$F$3:$F$4</c:f>
              <c:strCache>
                <c:ptCount val="1"/>
                <c:pt idx="0">
                  <c:v>Silver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'Identify top color choices per '!$A$5:$A$11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South America</c:v>
                </c:pt>
              </c:strCache>
            </c:strRef>
          </c:cat>
          <c:val>
            <c:numRef>
              <c:f>'Identify top color choices per '!$F$5:$F$11</c:f>
              <c:numCache>
                <c:formatCode>0</c:formatCode>
                <c:ptCount val="6"/>
                <c:pt idx="0">
                  <c:v>6885841</c:v>
                </c:pt>
                <c:pt idx="1">
                  <c:v>6949489</c:v>
                </c:pt>
                <c:pt idx="2">
                  <c:v>7054779</c:v>
                </c:pt>
                <c:pt idx="3">
                  <c:v>7329540</c:v>
                </c:pt>
                <c:pt idx="4">
                  <c:v>7405887</c:v>
                </c:pt>
                <c:pt idx="5">
                  <c:v>7048486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B7-4D42-A2F8-7EDE4BA582A7}"/>
            </c:ext>
          </c:extLst>
        </c:ser>
        <c:ser>
          <c:idx val="5"/>
          <c:order val="5"/>
          <c:tx>
            <c:strRef>
              <c:f>'Identify top color choices per '!$G$3:$G$4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'Identify top color choices per '!$A$5:$A$11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South America</c:v>
                </c:pt>
              </c:strCache>
            </c:strRef>
          </c:cat>
          <c:val>
            <c:numRef>
              <c:f>'Identify top color choices per '!$G$5:$G$11</c:f>
              <c:numCache>
                <c:formatCode>0</c:formatCode>
                <c:ptCount val="6"/>
                <c:pt idx="0">
                  <c:v>7096981</c:v>
                </c:pt>
                <c:pt idx="1">
                  <c:v>6995728</c:v>
                </c:pt>
                <c:pt idx="2">
                  <c:v>7064770</c:v>
                </c:pt>
                <c:pt idx="3">
                  <c:v>6949851</c:v>
                </c:pt>
                <c:pt idx="4">
                  <c:v>7049678</c:v>
                </c:pt>
                <c:pt idx="5">
                  <c:v>7115946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0B7-4D42-A2F8-7EDE4BA582A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691912575"/>
        <c:axId val="1691914975"/>
      </c:barChart>
      <c:catAx>
        <c:axId val="1691912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914975"/>
        <c:crosses val="autoZero"/>
        <c:auto val="1"/>
        <c:lblAlgn val="ctr"/>
        <c:lblOffset val="100"/>
        <c:noMultiLvlLbl val="0"/>
      </c:catAx>
      <c:valAx>
        <c:axId val="169191497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691912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[BMW Sales trends final copy.xlsx]See growth or decline in yearly!PivotTable7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Yearly Growth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'See growth or decline in yearly'!$B$3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63500" dist="25400" dir="5400000" algn="ctr" rotWithShape="0">
                <a:srgbClr val="000000">
                  <a:alpha val="69000"/>
                </a:srgbClr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'See growth or decline in yearly'!$A$4:$A$19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'See growth or decline in yearly'!$B$4:$B$19</c:f>
              <c:numCache>
                <c:formatCode>General</c:formatCode>
                <c:ptCount val="15"/>
                <c:pt idx="0">
                  <c:v>16933445</c:v>
                </c:pt>
                <c:pt idx="1">
                  <c:v>16758941</c:v>
                </c:pt>
                <c:pt idx="2">
                  <c:v>16751895</c:v>
                </c:pt>
                <c:pt idx="3">
                  <c:v>16866733</c:v>
                </c:pt>
                <c:pt idx="4">
                  <c:v>16958960</c:v>
                </c:pt>
                <c:pt idx="5">
                  <c:v>17010207</c:v>
                </c:pt>
                <c:pt idx="6">
                  <c:v>16957550</c:v>
                </c:pt>
                <c:pt idx="7">
                  <c:v>16620811</c:v>
                </c:pt>
                <c:pt idx="8">
                  <c:v>16412273</c:v>
                </c:pt>
                <c:pt idx="9">
                  <c:v>17191956</c:v>
                </c:pt>
                <c:pt idx="10">
                  <c:v>16310843</c:v>
                </c:pt>
                <c:pt idx="11">
                  <c:v>16884666</c:v>
                </c:pt>
                <c:pt idx="12">
                  <c:v>17920946</c:v>
                </c:pt>
                <c:pt idx="13">
                  <c:v>16268654</c:v>
                </c:pt>
                <c:pt idx="14">
                  <c:v>17527854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3-4008-A953-F8BEC5EB6F0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691886655"/>
        <c:axId val="1691890495"/>
      </c:lineChart>
      <c:catAx>
        <c:axId val="1691886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890495"/>
        <c:crosses val="autoZero"/>
        <c:auto val="1"/>
        <c:lblAlgn val="ctr"/>
        <c:lblOffset val="100"/>
        <c:noMultiLvlLbl val="0"/>
      </c:catAx>
      <c:valAx>
        <c:axId val="169189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886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797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63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8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59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6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9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05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1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27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85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2728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154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62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1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75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4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91BAA7D-9247-4676-B727-D9ED9C8D9CC2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9FEC771-7FA7-46CC-AD6A-9392AB804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14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9D54-68EB-8873-C8A0-CAE700907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79883"/>
            <a:ext cx="8689976" cy="363011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Cooper Black" panose="0208090404030B020404" pitchFamily="18" charset="0"/>
              </a:rPr>
              <a:t>BMW GLOBAL SALES &amp; MARKET TRENDS </a:t>
            </a:r>
            <a:br>
              <a:rPr lang="en-US" sz="4400" b="1" dirty="0">
                <a:latin typeface="Cooper Black" panose="0208090404030B020404" pitchFamily="18" charset="0"/>
              </a:rPr>
            </a:br>
            <a:br>
              <a:rPr lang="en-US" sz="4400" b="1" dirty="0">
                <a:latin typeface="Cooper Black" panose="0208090404030B020404" pitchFamily="18" charset="0"/>
              </a:rPr>
            </a:br>
            <a:r>
              <a:rPr lang="en-US" sz="3200" b="1" dirty="0">
                <a:latin typeface="Cooper Black" panose="0208090404030B020404" pitchFamily="18" charset="0"/>
              </a:rPr>
              <a:t> “The Drive That Never Stops”</a:t>
            </a:r>
            <a:endParaRPr lang="en-IN" sz="4400" b="1" dirty="0">
              <a:latin typeface="Cooper Black" panose="0208090404030B0204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1B51D-ADE8-62C1-1FA3-70AC33ED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1385" y="4257207"/>
            <a:ext cx="9146837" cy="2184815"/>
          </a:xfrm>
        </p:spPr>
        <p:txBody>
          <a:bodyPr>
            <a:normAutofit/>
          </a:bodyPr>
          <a:lstStyle/>
          <a:p>
            <a:pPr algn="r"/>
            <a:r>
              <a:rPr lang="en-US" sz="2800" b="1" cap="none" dirty="0">
                <a:solidFill>
                  <a:schemeClr val="tx1"/>
                </a:solidFill>
              </a:rPr>
              <a:t>Presented by ,</a:t>
            </a:r>
          </a:p>
          <a:p>
            <a:pPr algn="r"/>
            <a:r>
              <a:rPr lang="en-US" sz="2800" b="1" cap="none" dirty="0">
                <a:solidFill>
                  <a:schemeClr val="tx1"/>
                </a:solidFill>
              </a:rPr>
              <a:t>Mrs. Sivadurga K</a:t>
            </a:r>
          </a:p>
          <a:p>
            <a:pPr algn="r"/>
            <a:r>
              <a:rPr lang="en-US" sz="2800" b="1" cap="none" dirty="0">
                <a:solidFill>
                  <a:schemeClr val="tx1"/>
                </a:solidFill>
              </a:rPr>
              <a:t>Group 11.</a:t>
            </a:r>
            <a:endParaRPr lang="en-IN" sz="2800" b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26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0D42-3FBA-166E-B322-7BD22823D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800080"/>
                </a:solidFill>
              </a:rPr>
              <a:t>Over all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01A8F-A4DB-881F-6321-17684B5F39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6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2008-2010 financial crisis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600" kern="100" cap="none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Growing </a:t>
            </a:r>
            <a:r>
              <a:rPr lang="en-IN" sz="36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interest in electric vehicles (EVs)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cap="none" dirty="0">
                <a:latin typeface="Times New Roman" panose="02020603050405020304" pitchFamily="18" charset="0"/>
                <a:ea typeface="Aptos" panose="020B0004020202020204" pitchFamily="34" charset="0"/>
              </a:rPr>
              <a:t>C</a:t>
            </a:r>
            <a:r>
              <a:rPr lang="en-US" sz="36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lassics series: 3 series and 5 series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kern="100" cap="none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Launch of i3 and i8</a:t>
            </a:r>
          </a:p>
          <a:p>
            <a:endParaRPr lang="en-IN" sz="2200" kern="100" cap="none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9189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85A1-8054-6553-4094-4F02DB75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800080"/>
                </a:solidFill>
              </a:rPr>
              <a:t>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2E6E-AE27-8C55-53C9-A51C68637F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76452"/>
            <a:ext cx="10363826" cy="4766873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b="1" cap="none" dirty="0"/>
              <a:t>Income generation high end model: </a:t>
            </a:r>
            <a:r>
              <a:rPr lang="en-US" sz="2400" cap="none" dirty="0"/>
              <a:t>7 series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cap="none" dirty="0"/>
              <a:t>Seasonal pattern : </a:t>
            </a:r>
            <a:r>
              <a:rPr lang="en-US" sz="2400" cap="none" dirty="0"/>
              <a:t>Peaking in September and dropping in December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cap="none" dirty="0"/>
              <a:t>Customer preferences:</a:t>
            </a:r>
            <a:r>
              <a:rPr lang="en-US" sz="2400" cap="none" dirty="0"/>
              <a:t> Manual cars and the color </a:t>
            </a:r>
            <a:r>
              <a:rPr lang="en-US" sz="2400" cap="none" dirty="0">
                <a:solidFill>
                  <a:srgbClr val="FF0000"/>
                </a:solidFill>
              </a:rPr>
              <a:t>Red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b="1" cap="none" dirty="0"/>
              <a:t>Yearly sales trends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cap="none" dirty="0"/>
              <a:t>Yearly drops: </a:t>
            </a:r>
            <a:r>
              <a:rPr lang="en-US" sz="2400" cap="none" dirty="0"/>
              <a:t>2018–2020 and 2023 Drop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Major growth periods</a:t>
            </a:r>
            <a:r>
              <a:rPr lang="en-US" sz="24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2019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2021,2022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and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2024</a:t>
            </a:r>
            <a:endParaRPr 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377944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4412-B2FC-AE58-623B-371C93BD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cap="none" dirty="0">
                <a:solidFill>
                  <a:srgbClr val="800080"/>
                </a:solidFill>
              </a:rPr>
              <a:t>Income generation high end model: 7 series</a:t>
            </a:r>
            <a:br>
              <a:rPr lang="en-US" sz="3600" cap="none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122C5D-4148-C94D-8095-D2C32D45D1C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49318154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00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E358-EC3E-C83D-0D1A-F97369F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cap="none" dirty="0">
                <a:solidFill>
                  <a:srgbClr val="800080"/>
                </a:solidFill>
              </a:rPr>
              <a:t>Seasonal pattern : </a:t>
            </a:r>
            <a:r>
              <a:rPr lang="en-US" sz="3600" cap="none" dirty="0">
                <a:solidFill>
                  <a:srgbClr val="800080"/>
                </a:solidFill>
              </a:rPr>
              <a:t>Peaking in September and dropping in December</a:t>
            </a:r>
            <a:br>
              <a:rPr lang="en-US" sz="3600" cap="none" dirty="0">
                <a:solidFill>
                  <a:srgbClr val="800080"/>
                </a:solidFill>
              </a:rPr>
            </a:br>
            <a:endParaRPr lang="en-IN" dirty="0">
              <a:solidFill>
                <a:srgbClr val="80008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3D46D6-88B0-574E-FD30-A7F12F03135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56067082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545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CE11-F8FF-8DEB-3C50-030889FF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cap="none" dirty="0">
                <a:solidFill>
                  <a:srgbClr val="800080"/>
                </a:solidFill>
              </a:rPr>
              <a:t>Customer preferences:</a:t>
            </a:r>
            <a:r>
              <a:rPr lang="en-US" sz="3600" cap="none" dirty="0">
                <a:solidFill>
                  <a:srgbClr val="800080"/>
                </a:solidFill>
              </a:rPr>
              <a:t> Manual cars and the color </a:t>
            </a:r>
            <a:r>
              <a:rPr lang="en-US" sz="3600" cap="none" dirty="0">
                <a:solidFill>
                  <a:srgbClr val="FF0000"/>
                </a:solidFill>
              </a:rPr>
              <a:t>Red</a:t>
            </a:r>
            <a:br>
              <a:rPr lang="en-US" sz="3600" cap="none" dirty="0">
                <a:solidFill>
                  <a:srgbClr val="FF0000"/>
                </a:solidFill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993ED5-24D2-410D-E856-BD1649F738A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07723645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649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26AC-B549-30D7-93E0-915B799D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cap="none" dirty="0">
                <a:solidFill>
                  <a:srgbClr val="800080"/>
                </a:solidFill>
              </a:rPr>
              <a:t>Yearly drops: </a:t>
            </a:r>
            <a:r>
              <a:rPr lang="en-US" sz="3100" cap="none" dirty="0">
                <a:solidFill>
                  <a:srgbClr val="800080"/>
                </a:solidFill>
              </a:rPr>
              <a:t>2018–2020 and 2023 Drop</a:t>
            </a:r>
            <a:br>
              <a:rPr lang="en-US" sz="3100" cap="none" dirty="0">
                <a:solidFill>
                  <a:srgbClr val="800080"/>
                </a:solidFill>
              </a:rPr>
            </a:br>
            <a:br>
              <a:rPr lang="en-US" sz="3100" cap="none" dirty="0">
                <a:solidFill>
                  <a:srgbClr val="800080"/>
                </a:solidFill>
              </a:rPr>
            </a:br>
            <a:r>
              <a:rPr lang="en-US" sz="3100" b="1" cap="none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Major growth periods</a:t>
            </a:r>
            <a:r>
              <a:rPr lang="en-US" sz="3100" cap="none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 </a:t>
            </a:r>
            <a:r>
              <a:rPr lang="en-US" sz="3100" b="1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2019</a:t>
            </a:r>
            <a:r>
              <a:rPr lang="en-US" sz="3100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en-US" sz="3100" b="1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2021,2022</a:t>
            </a:r>
            <a:r>
              <a:rPr lang="en-US" sz="3100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and </a:t>
            </a:r>
            <a:r>
              <a:rPr lang="en-US" sz="3100" b="1" dirty="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2024</a:t>
            </a:r>
            <a:br>
              <a:rPr lang="en-US" sz="3600" cap="none" dirty="0">
                <a:solidFill>
                  <a:srgbClr val="800080"/>
                </a:solidFill>
              </a:rPr>
            </a:br>
            <a:br>
              <a:rPr lang="en-US" sz="3600" cap="none" dirty="0">
                <a:solidFill>
                  <a:srgbClr val="800080"/>
                </a:solidFill>
              </a:rPr>
            </a:br>
            <a:br>
              <a:rPr lang="en-US" sz="3600" cap="none" dirty="0">
                <a:solidFill>
                  <a:srgbClr val="800080"/>
                </a:solidFill>
              </a:rPr>
            </a:br>
            <a:endParaRPr lang="en-IN" dirty="0">
              <a:solidFill>
                <a:srgbClr val="800080"/>
              </a:solidFill>
            </a:endParaRP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86BB074-28DE-B35C-DAE3-D952B159AE1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96914386"/>
              </p:ext>
            </p:extLst>
          </p:nvPr>
        </p:nvGraphicFramePr>
        <p:xfrm>
          <a:off x="914400" y="2038663"/>
          <a:ext cx="10363200" cy="4407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225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3F40-69BD-4C3F-25C4-951C5A43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22288"/>
            <a:ext cx="10364451" cy="1251680"/>
          </a:xfrm>
        </p:spPr>
        <p:txBody>
          <a:bodyPr/>
          <a:lstStyle/>
          <a:p>
            <a:r>
              <a:rPr lang="en-IN" dirty="0"/>
              <a:t>Sales by region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39AD2B-FDEE-D4BC-956F-D0893E3252D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3005" t="22807" r="34695" b="15468"/>
          <a:stretch/>
        </p:blipFill>
        <p:spPr>
          <a:xfrm>
            <a:off x="764499" y="1274164"/>
            <a:ext cx="10364451" cy="5261549"/>
          </a:xfrm>
        </p:spPr>
      </p:pic>
    </p:spTree>
    <p:extLst>
      <p:ext uri="{BB962C8B-B14F-4D97-AF65-F5344CB8AC3E}">
        <p14:creationId xmlns:p14="http://schemas.microsoft.com/office/powerpoint/2010/main" val="3832881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FB88-A140-F81F-AFFC-65A79F98D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0769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800080"/>
                </a:solidFill>
              </a:rPr>
              <a:t>BMW's Roadblocks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D0490-AA64-9708-6C9F-B86896A264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716946"/>
            <a:ext cx="10363826" cy="34241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b="1" u="sng" cap="none" dirty="0"/>
              <a:t>Steep fall in 2018 - 2020 and 2023 </a:t>
            </a:r>
          </a:p>
          <a:p>
            <a:pPr marL="0" indent="0" algn="ctr">
              <a:buNone/>
            </a:pPr>
            <a:endParaRPr lang="en-US" sz="2800" b="1" u="sng" cap="none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China lockdowns (</a:t>
            </a:r>
            <a:r>
              <a:rPr lang="en-IN" sz="2800" b="1" kern="100" cap="none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early </a:t>
            </a:r>
            <a:r>
              <a:rPr lang="en-IN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2022)</a:t>
            </a:r>
            <a:endParaRPr lang="en-US" sz="2800" kern="100" cap="none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8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13.4% drop in global deliveries for the first six months of 2022</a:t>
            </a:r>
            <a:endParaRPr lang="en-IN" sz="2800" kern="100" cap="none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28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Breaking system issues (2023)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800" kern="100" cap="none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800" b="1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Supplier part shortages </a:t>
            </a:r>
            <a:r>
              <a:rPr lang="en-IN" sz="28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 earlier years (2017),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1386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B00-821F-D736-9D6C-F0EFFD10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00080"/>
                </a:solidFill>
              </a:rPr>
              <a:t>Steps BMW could have been taken to overcome the challenges</a:t>
            </a:r>
            <a:endParaRPr lang="en-IN" dirty="0">
              <a:solidFill>
                <a:srgbClr val="80008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6E85D-6BB0-70CD-02E4-496909CE05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8723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Our team analysed the data and suggested some the preventive measures. Here they are</a:t>
            </a:r>
            <a:endParaRPr lang="en-IN" sz="22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Stop relying on one source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Diversifying suppliers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Adapting to market challenges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 flexibility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Technological advancements</a:t>
            </a:r>
            <a:endParaRPr lang="en-IN" sz="2800" cap="none" dirty="0"/>
          </a:p>
        </p:txBody>
      </p:sp>
    </p:spTree>
    <p:extLst>
      <p:ext uri="{BB962C8B-B14F-4D97-AF65-F5344CB8AC3E}">
        <p14:creationId xmlns:p14="http://schemas.microsoft.com/office/powerpoint/2010/main" val="141513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3546-BAC2-3614-EA20-77F8A9FA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91230"/>
            <a:ext cx="10364451" cy="1596177"/>
          </a:xfrm>
        </p:spPr>
        <p:txBody>
          <a:bodyPr/>
          <a:lstStyle/>
          <a:p>
            <a:r>
              <a:rPr lang="en-US" dirty="0">
                <a:solidFill>
                  <a:srgbClr val="800080"/>
                </a:solidFill>
              </a:rPr>
              <a:t>RE-rise of BMW</a:t>
            </a:r>
            <a:endParaRPr lang="en-IN" dirty="0">
              <a:solidFill>
                <a:srgbClr val="80008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1887E-B668-68FC-D3CE-9DE2D48168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887407"/>
            <a:ext cx="10363826" cy="3424107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Every trend, every model, and every market shift told a story of a company that refused to slow down.</a:t>
            </a:r>
            <a:endParaRPr lang="en-IN" sz="22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However, </a:t>
            </a:r>
            <a: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launch of the i3 and i8 manifest the beginning of BMW's electric vision.</a:t>
            </a:r>
            <a:b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growth in Asia showed how the brand adapted to new markets.</a:t>
            </a:r>
            <a:b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And the steady sales in Europe proved that innovation never meant leaving tradition behind.</a:t>
            </a:r>
            <a:endParaRPr lang="en-IN" sz="22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And that’s the story I want to share with you today, how BMW turned challenge into opportunity, and how their journey during those years shaped the brand we know today.”</a:t>
            </a:r>
            <a:endParaRPr lang="en-IN" sz="22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US" sz="2200" kern="100" cap="none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Thank you for the dedication and time given to me.</a:t>
            </a:r>
            <a:endParaRPr lang="en-IN" sz="22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2200" cap="none" dirty="0"/>
          </a:p>
        </p:txBody>
      </p:sp>
    </p:spTree>
    <p:extLst>
      <p:ext uri="{BB962C8B-B14F-4D97-AF65-F5344CB8AC3E}">
        <p14:creationId xmlns:p14="http://schemas.microsoft.com/office/powerpoint/2010/main" val="86760464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85</TotalTime>
  <Words>370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Cooper Black</vt:lpstr>
      <vt:lpstr>Times New Roman</vt:lpstr>
      <vt:lpstr>Wingdings</vt:lpstr>
      <vt:lpstr>Droplet</vt:lpstr>
      <vt:lpstr>BMW GLOBAL SALES &amp; MARKET TRENDS    “The Drive That Never Stops”</vt:lpstr>
      <vt:lpstr>Over all analysis </vt:lpstr>
      <vt:lpstr>key insights </vt:lpstr>
      <vt:lpstr>Income generation high end model: 7 series </vt:lpstr>
      <vt:lpstr>Seasonal pattern : Peaking in September and dropping in December </vt:lpstr>
      <vt:lpstr>Customer preferences: Manual cars and the color Red </vt:lpstr>
      <vt:lpstr>Yearly drops: 2018–2020 and 2023 Drop  Major growth periods: 2019, 2021,2022, and 2024   </vt:lpstr>
      <vt:lpstr>Sales by region</vt:lpstr>
      <vt:lpstr>BMW's Roadblocks</vt:lpstr>
      <vt:lpstr>Steps BMW could have been taken to overcome the challenges</vt:lpstr>
      <vt:lpstr>RE-rise of BMW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Sivadurga K</dc:creator>
  <cp:lastModifiedBy>Sivadurga K</cp:lastModifiedBy>
  <cp:revision>52</cp:revision>
  <dcterms:created xsi:type="dcterms:W3CDTF">2025-10-28T05:19:19Z</dcterms:created>
  <dcterms:modified xsi:type="dcterms:W3CDTF">2025-10-28T14:22:16Z</dcterms:modified>
</cp:coreProperties>
</file>